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Poppins Bold Italics" charset="1" panose="00000800000000000000"/>
      <p:regular r:id="rId23"/>
    </p:embeddedFont>
    <p:embeddedFont>
      <p:font typeface="Poppins Italic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85340">
            <a:off x="2611645" y="-3410955"/>
            <a:ext cx="13773835" cy="13813076"/>
          </a:xfrm>
          <a:custGeom>
            <a:avLst/>
            <a:gdLst/>
            <a:ahLst/>
            <a:cxnLst/>
            <a:rect r="r" b="b" t="t" l="l"/>
            <a:pathLst>
              <a:path h="13813076" w="13773835">
                <a:moveTo>
                  <a:pt x="0" y="0"/>
                </a:moveTo>
                <a:lnTo>
                  <a:pt x="13773834" y="0"/>
                </a:lnTo>
                <a:lnTo>
                  <a:pt x="13773834" y="13813076"/>
                </a:lnTo>
                <a:lnTo>
                  <a:pt x="0" y="1381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47850" y="797190"/>
            <a:ext cx="7413885" cy="7429022"/>
            <a:chOff x="0" y="0"/>
            <a:chExt cx="1519990" cy="15230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19989" cy="1523093"/>
            </a:xfrm>
            <a:custGeom>
              <a:avLst/>
              <a:gdLst/>
              <a:ahLst/>
              <a:cxnLst/>
              <a:rect r="r" b="b" t="t" l="l"/>
              <a:pathLst>
                <a:path h="1523093" w="1519989">
                  <a:moveTo>
                    <a:pt x="46991" y="0"/>
                  </a:moveTo>
                  <a:lnTo>
                    <a:pt x="1472998" y="0"/>
                  </a:lnTo>
                  <a:cubicBezTo>
                    <a:pt x="1498951" y="0"/>
                    <a:pt x="1519989" y="21039"/>
                    <a:pt x="1519989" y="46991"/>
                  </a:cubicBezTo>
                  <a:lnTo>
                    <a:pt x="1519989" y="1476102"/>
                  </a:lnTo>
                  <a:cubicBezTo>
                    <a:pt x="1519989" y="1488565"/>
                    <a:pt x="1515039" y="1500517"/>
                    <a:pt x="1506226" y="1509330"/>
                  </a:cubicBezTo>
                  <a:cubicBezTo>
                    <a:pt x="1497414" y="1518142"/>
                    <a:pt x="1485461" y="1523093"/>
                    <a:pt x="1472998" y="1523093"/>
                  </a:cubicBezTo>
                  <a:lnTo>
                    <a:pt x="46991" y="1523093"/>
                  </a:lnTo>
                  <a:cubicBezTo>
                    <a:pt x="21039" y="1523093"/>
                    <a:pt x="0" y="1502054"/>
                    <a:pt x="0" y="1476102"/>
                  </a:cubicBezTo>
                  <a:lnTo>
                    <a:pt x="0" y="46991"/>
                  </a:lnTo>
                  <a:cubicBezTo>
                    <a:pt x="0" y="21039"/>
                    <a:pt x="21039" y="0"/>
                    <a:pt x="46991" y="0"/>
                  </a:cubicBez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-204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80722" y="6778124"/>
            <a:ext cx="12934144" cy="2627570"/>
            <a:chOff x="0" y="0"/>
            <a:chExt cx="3406524" cy="692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6523" cy="692035"/>
            </a:xfrm>
            <a:custGeom>
              <a:avLst/>
              <a:gdLst/>
              <a:ahLst/>
              <a:cxnLst/>
              <a:rect r="r" b="b" t="t" l="l"/>
              <a:pathLst>
                <a:path h="692035" w="3406523">
                  <a:moveTo>
                    <a:pt x="26935" y="0"/>
                  </a:moveTo>
                  <a:lnTo>
                    <a:pt x="3379588" y="0"/>
                  </a:lnTo>
                  <a:cubicBezTo>
                    <a:pt x="3394464" y="0"/>
                    <a:pt x="3406523" y="12059"/>
                    <a:pt x="3406523" y="26935"/>
                  </a:cubicBezTo>
                  <a:lnTo>
                    <a:pt x="3406523" y="665099"/>
                  </a:lnTo>
                  <a:cubicBezTo>
                    <a:pt x="3406523" y="679975"/>
                    <a:pt x="3394464" y="692035"/>
                    <a:pt x="3379588" y="692035"/>
                  </a:cubicBezTo>
                  <a:lnTo>
                    <a:pt x="26935" y="692035"/>
                  </a:lnTo>
                  <a:cubicBezTo>
                    <a:pt x="12059" y="692035"/>
                    <a:pt x="0" y="679975"/>
                    <a:pt x="0" y="665099"/>
                  </a:cubicBezTo>
                  <a:lnTo>
                    <a:pt x="0" y="26935"/>
                  </a:lnTo>
                  <a:cubicBezTo>
                    <a:pt x="0" y="12059"/>
                    <a:pt x="12059" y="0"/>
                    <a:pt x="2693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406524" cy="75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5767" y="2826593"/>
            <a:ext cx="8018233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 b="true">
                <a:solidFill>
                  <a:srgbClr val="008B8F"/>
                </a:solidFill>
                <a:latin typeface="Poppins Bold"/>
                <a:ea typeface="Poppins Bold"/>
                <a:cs typeface="Poppins Bold"/>
                <a:sym typeface="Poppins Bold"/>
              </a:rPr>
              <a:t>SmartCare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8864" y="2531960"/>
            <a:ext cx="1370272" cy="1545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24"/>
              </a:lnSpc>
            </a:pPr>
            <a:r>
              <a:rPr lang="en-US" sz="9600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5767" y="4408016"/>
            <a:ext cx="9749858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Explainable AI for Healthcare Appointment </a:t>
            </a:r>
          </a:p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No-Show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5767" y="5367501"/>
            <a:ext cx="937206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Option A -Appointment No-Show Prediction | Binary Classification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767" y="7900457"/>
            <a:ext cx="4220593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Dewmi Abeykoon (CIT-23-02-0090)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5767" y="7245196"/>
            <a:ext cx="3660583" cy="37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Group Members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42328" y="8502437"/>
            <a:ext cx="4305522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Pabasara Maitipe (CIT-23-02-0138)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5767" y="8502437"/>
            <a:ext cx="4317661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Maliksha Pawani (CIT-23-02-0056)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42328" y="7900457"/>
            <a:ext cx="4455501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Jayani Wathsala (CIT-23-02-0104)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273292">
            <a:off x="10525698" y="-3088229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11699889"/>
                </a:moveTo>
                <a:lnTo>
                  <a:pt x="11504620" y="11699889"/>
                </a:lnTo>
                <a:lnTo>
                  <a:pt x="11504620" y="0"/>
                </a:lnTo>
                <a:lnTo>
                  <a:pt x="0" y="0"/>
                </a:lnTo>
                <a:lnTo>
                  <a:pt x="0" y="11699889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0620" y="-734141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0"/>
                </a:moveTo>
                <a:lnTo>
                  <a:pt x="11504620" y="0"/>
                </a:lnTo>
                <a:lnTo>
                  <a:pt x="11504620" y="11699889"/>
                </a:lnTo>
                <a:lnTo>
                  <a:pt x="0" y="1169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34719"/>
            <a:ext cx="7116941" cy="232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7"/>
              </a:lnSpc>
            </a:pPr>
            <a:r>
              <a:rPr lang="en-US" sz="81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Agenda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552810"/>
            <a:ext cx="1360073" cy="1576039"/>
            <a:chOff x="0" y="0"/>
            <a:chExt cx="853955" cy="989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6311607"/>
            <a:ext cx="1360073" cy="1576039"/>
            <a:chOff x="0" y="0"/>
            <a:chExt cx="853955" cy="989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4893" y="4552810"/>
            <a:ext cx="5715180" cy="1576039"/>
            <a:chOff x="0" y="0"/>
            <a:chExt cx="3588414" cy="989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94893" y="6311607"/>
            <a:ext cx="5715180" cy="1576039"/>
            <a:chOff x="0" y="0"/>
            <a:chExt cx="3588414" cy="989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7009" y="4896525"/>
            <a:ext cx="899844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1653" y="6655322"/>
            <a:ext cx="1070556" cy="76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1017" y="4937620"/>
            <a:ext cx="4653123" cy="74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225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&amp; Significance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21017" y="6704212"/>
            <a:ext cx="4347867" cy="74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 &amp; Research Gap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8070404"/>
            <a:ext cx="1360073" cy="1576039"/>
            <a:chOff x="0" y="0"/>
            <a:chExt cx="853955" cy="9895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494893" y="8070404"/>
            <a:ext cx="5715180" cy="1576039"/>
            <a:chOff x="0" y="0"/>
            <a:chExt cx="3588414" cy="9895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76722" y="8414119"/>
            <a:ext cx="1100418" cy="76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21017" y="8643984"/>
            <a:ext cx="3332306" cy="38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077926" y="1028700"/>
            <a:ext cx="1360073" cy="1576039"/>
            <a:chOff x="0" y="0"/>
            <a:chExt cx="853955" cy="9895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77926" y="2787497"/>
            <a:ext cx="1360073" cy="1576039"/>
            <a:chOff x="0" y="0"/>
            <a:chExt cx="853955" cy="9895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544120" y="1028700"/>
            <a:ext cx="5715180" cy="1576039"/>
            <a:chOff x="0" y="0"/>
            <a:chExt cx="3588414" cy="9895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544120" y="2787497"/>
            <a:ext cx="5715180" cy="1576039"/>
            <a:chOff x="0" y="0"/>
            <a:chExt cx="3588414" cy="9895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326235" y="1372415"/>
            <a:ext cx="899844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40879" y="3131212"/>
            <a:ext cx="1070556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98830" y="1418953"/>
            <a:ext cx="3332306" cy="74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 &amp; Feature Engineering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98830" y="3359775"/>
            <a:ext cx="3926743" cy="38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077926" y="4546294"/>
            <a:ext cx="1360073" cy="1576039"/>
            <a:chOff x="0" y="0"/>
            <a:chExt cx="853955" cy="9895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544120" y="4546294"/>
            <a:ext cx="5715180" cy="1576039"/>
            <a:chOff x="0" y="0"/>
            <a:chExt cx="3588414" cy="9895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25948" y="4890009"/>
            <a:ext cx="1100418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898830" y="5126329"/>
            <a:ext cx="4508532" cy="38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Development &amp; Tuning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077926" y="6284258"/>
            <a:ext cx="1360073" cy="1576039"/>
            <a:chOff x="0" y="0"/>
            <a:chExt cx="853955" cy="9895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077926" y="8043055"/>
            <a:ext cx="1360073" cy="1576039"/>
            <a:chOff x="0" y="0"/>
            <a:chExt cx="853955" cy="9895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955" cy="989554"/>
            </a:xfrm>
            <a:custGeom>
              <a:avLst/>
              <a:gdLst/>
              <a:ahLst/>
              <a:cxnLst/>
              <a:rect r="r" b="b" t="t" l="l"/>
              <a:pathLst>
                <a:path h="989554" w="853955">
                  <a:moveTo>
                    <a:pt x="284614" y="0"/>
                  </a:moveTo>
                  <a:lnTo>
                    <a:pt x="569341" y="0"/>
                  </a:lnTo>
                  <a:cubicBezTo>
                    <a:pt x="726529" y="0"/>
                    <a:pt x="853955" y="127426"/>
                    <a:pt x="853955" y="284614"/>
                  </a:cubicBezTo>
                  <a:lnTo>
                    <a:pt x="853955" y="704940"/>
                  </a:lnTo>
                  <a:cubicBezTo>
                    <a:pt x="853955" y="780424"/>
                    <a:pt x="823969" y="852817"/>
                    <a:pt x="770593" y="906192"/>
                  </a:cubicBezTo>
                  <a:cubicBezTo>
                    <a:pt x="717218" y="959568"/>
                    <a:pt x="644825" y="989554"/>
                    <a:pt x="569341" y="989554"/>
                  </a:cubicBezTo>
                  <a:lnTo>
                    <a:pt x="284614" y="989554"/>
                  </a:lnTo>
                  <a:cubicBezTo>
                    <a:pt x="127426" y="989554"/>
                    <a:pt x="0" y="862128"/>
                    <a:pt x="0" y="704940"/>
                  </a:cubicBezTo>
                  <a:lnTo>
                    <a:pt x="0" y="284614"/>
                  </a:lnTo>
                  <a:cubicBezTo>
                    <a:pt x="0" y="209130"/>
                    <a:pt x="29986" y="136737"/>
                    <a:pt x="83362" y="83362"/>
                  </a:cubicBezTo>
                  <a:cubicBezTo>
                    <a:pt x="136737" y="29986"/>
                    <a:pt x="209130" y="0"/>
                    <a:pt x="28461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544120" y="6284258"/>
            <a:ext cx="5715180" cy="1576039"/>
            <a:chOff x="0" y="0"/>
            <a:chExt cx="3588414" cy="9895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44120" y="8043055"/>
            <a:ext cx="5715180" cy="1576039"/>
            <a:chOff x="0" y="0"/>
            <a:chExt cx="3588414" cy="9895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88414" cy="989554"/>
            </a:xfrm>
            <a:custGeom>
              <a:avLst/>
              <a:gdLst/>
              <a:ahLst/>
              <a:cxnLst/>
              <a:rect r="r" b="b" t="t" l="l"/>
              <a:pathLst>
                <a:path h="989554" w="3588414">
                  <a:moveTo>
                    <a:pt x="67731" y="0"/>
                  </a:moveTo>
                  <a:lnTo>
                    <a:pt x="3520682" y="0"/>
                  </a:lnTo>
                  <a:cubicBezTo>
                    <a:pt x="3558089" y="0"/>
                    <a:pt x="3588414" y="30324"/>
                    <a:pt x="3588414" y="67731"/>
                  </a:cubicBezTo>
                  <a:lnTo>
                    <a:pt x="3588414" y="921823"/>
                  </a:lnTo>
                  <a:cubicBezTo>
                    <a:pt x="3588414" y="959230"/>
                    <a:pt x="3558089" y="989554"/>
                    <a:pt x="3520682" y="989554"/>
                  </a:cubicBezTo>
                  <a:lnTo>
                    <a:pt x="67731" y="989554"/>
                  </a:lnTo>
                  <a:cubicBezTo>
                    <a:pt x="30324" y="989554"/>
                    <a:pt x="0" y="959230"/>
                    <a:pt x="0" y="921823"/>
                  </a:cubicBezTo>
                  <a:lnTo>
                    <a:pt x="0" y="67731"/>
                  </a:lnTo>
                  <a:cubicBezTo>
                    <a:pt x="0" y="30324"/>
                    <a:pt x="30324" y="0"/>
                    <a:pt x="6773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326235" y="6627972"/>
            <a:ext cx="899844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40879" y="8386769"/>
            <a:ext cx="1070556" cy="76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5"/>
              </a:lnSpc>
            </a:pPr>
            <a:r>
              <a:rPr lang="en-US" sz="423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898830" y="6704212"/>
            <a:ext cx="3686439" cy="74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Evaluation &amp; Best Model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898830" y="8463009"/>
            <a:ext cx="4204990" cy="745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AI, Prototype &amp; Conclusion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77822">
            <a:off x="2160015" y="-2979181"/>
            <a:ext cx="13773835" cy="13813076"/>
          </a:xfrm>
          <a:custGeom>
            <a:avLst/>
            <a:gdLst/>
            <a:ahLst/>
            <a:cxnLst/>
            <a:rect r="r" b="b" t="t" l="l"/>
            <a:pathLst>
              <a:path h="13813076" w="13773835">
                <a:moveTo>
                  <a:pt x="0" y="0"/>
                </a:moveTo>
                <a:lnTo>
                  <a:pt x="13773835" y="0"/>
                </a:lnTo>
                <a:lnTo>
                  <a:pt x="13773835" y="13813077"/>
                </a:lnTo>
                <a:lnTo>
                  <a:pt x="0" y="1381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97778" y="762065"/>
            <a:ext cx="6696614" cy="6922506"/>
            <a:chOff x="0" y="0"/>
            <a:chExt cx="920071" cy="951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0071" cy="951107"/>
            </a:xfrm>
            <a:custGeom>
              <a:avLst/>
              <a:gdLst/>
              <a:ahLst/>
              <a:cxnLst/>
              <a:rect r="r" b="b" t="t" l="l"/>
              <a:pathLst>
                <a:path h="951107" w="920071">
                  <a:moveTo>
                    <a:pt x="70522" y="0"/>
                  </a:moveTo>
                  <a:lnTo>
                    <a:pt x="849549" y="0"/>
                  </a:lnTo>
                  <a:cubicBezTo>
                    <a:pt x="888497" y="0"/>
                    <a:pt x="920071" y="31574"/>
                    <a:pt x="920071" y="70522"/>
                  </a:cubicBezTo>
                  <a:lnTo>
                    <a:pt x="920071" y="880585"/>
                  </a:lnTo>
                  <a:cubicBezTo>
                    <a:pt x="920071" y="899289"/>
                    <a:pt x="912641" y="917226"/>
                    <a:pt x="899416" y="930452"/>
                  </a:cubicBezTo>
                  <a:cubicBezTo>
                    <a:pt x="886190" y="943677"/>
                    <a:pt x="868253" y="951107"/>
                    <a:pt x="849549" y="951107"/>
                  </a:cubicBezTo>
                  <a:lnTo>
                    <a:pt x="70522" y="951107"/>
                  </a:lnTo>
                  <a:cubicBezTo>
                    <a:pt x="51818" y="951107"/>
                    <a:pt x="33881" y="943677"/>
                    <a:pt x="20655" y="930452"/>
                  </a:cubicBezTo>
                  <a:cubicBezTo>
                    <a:pt x="7430" y="917226"/>
                    <a:pt x="0" y="899289"/>
                    <a:pt x="0" y="880585"/>
                  </a:cubicBezTo>
                  <a:lnTo>
                    <a:pt x="0" y="70522"/>
                  </a:lnTo>
                  <a:cubicBezTo>
                    <a:pt x="0" y="51818"/>
                    <a:pt x="7430" y="33881"/>
                    <a:pt x="20655" y="20655"/>
                  </a:cubicBezTo>
                  <a:cubicBezTo>
                    <a:pt x="33881" y="7430"/>
                    <a:pt x="51818" y="0"/>
                    <a:pt x="70522" y="0"/>
                  </a:cubicBezTo>
                  <a:close/>
                </a:path>
              </a:pathLst>
            </a:custGeom>
            <a:blipFill>
              <a:blip r:embed="rId4">
                <a:alphaModFix amt="56000"/>
              </a:blip>
              <a:stretch>
                <a:fillRect l="-1686" t="0" r="-168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620657" y="4360536"/>
            <a:ext cx="6296077" cy="5335505"/>
            <a:chOff x="0" y="0"/>
            <a:chExt cx="1658226" cy="14052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58226" cy="1405236"/>
            </a:xfrm>
            <a:custGeom>
              <a:avLst/>
              <a:gdLst/>
              <a:ahLst/>
              <a:cxnLst/>
              <a:rect r="r" b="b" t="t" l="l"/>
              <a:pathLst>
                <a:path h="1405236" w="1658226">
                  <a:moveTo>
                    <a:pt x="62712" y="0"/>
                  </a:moveTo>
                  <a:lnTo>
                    <a:pt x="1595514" y="0"/>
                  </a:lnTo>
                  <a:cubicBezTo>
                    <a:pt x="1612147" y="0"/>
                    <a:pt x="1628098" y="6607"/>
                    <a:pt x="1639858" y="18368"/>
                  </a:cubicBezTo>
                  <a:cubicBezTo>
                    <a:pt x="1651619" y="30129"/>
                    <a:pt x="1658226" y="46080"/>
                    <a:pt x="1658226" y="62712"/>
                  </a:cubicBezTo>
                  <a:lnTo>
                    <a:pt x="1658226" y="1342524"/>
                  </a:lnTo>
                  <a:cubicBezTo>
                    <a:pt x="1658226" y="1377159"/>
                    <a:pt x="1630149" y="1405236"/>
                    <a:pt x="1595514" y="1405236"/>
                  </a:cubicBezTo>
                  <a:lnTo>
                    <a:pt x="62712" y="1405236"/>
                  </a:lnTo>
                  <a:cubicBezTo>
                    <a:pt x="28077" y="1405236"/>
                    <a:pt x="0" y="1377159"/>
                    <a:pt x="0" y="1342524"/>
                  </a:cubicBezTo>
                  <a:lnTo>
                    <a:pt x="0" y="62712"/>
                  </a:lnTo>
                  <a:cubicBezTo>
                    <a:pt x="0" y="28077"/>
                    <a:pt x="28077" y="0"/>
                    <a:pt x="62712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58226" cy="144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71550"/>
            <a:ext cx="322221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01. Problem Definition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92718"/>
            <a:ext cx="10676995" cy="212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74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  <a:p>
            <a:pPr algn="l">
              <a:lnSpc>
                <a:spcPts val="8008"/>
              </a:lnSpc>
            </a:pPr>
            <a:r>
              <a:rPr lang="en-US" sz="74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&amp; Significance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436480"/>
            <a:ext cx="8018233" cy="408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Goal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predict whether a patient will attend or miss (no-show) a scheduled appointment before it happens.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proactive interventions reminders, overbooking, or rescheduling for high-risk patients.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Improves scheduling efficiency, reduces idle clinical time, and supports data driven healthcare management.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variable: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no_show (0 = Attended, 1 = No-Show) -a binary classification problem.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100703"/>
            <a:ext cx="9211220" cy="104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9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Missed medical appoi</a:t>
            </a: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ntments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disrupt healthcare resource planning, waste clinical capacity, and delay care for other </a:t>
            </a:r>
          </a:p>
          <a:p>
            <a:pPr algn="l">
              <a:lnSpc>
                <a:spcPts val="2709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patients.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15471" y="5687568"/>
            <a:ext cx="5506449" cy="9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of appointments in the sample data (495 / 1000) resulted in a no-show a near even split, ideal for classification.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75164" y="4694682"/>
            <a:ext cx="2046698" cy="81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1"/>
              </a:lnSpc>
            </a:pPr>
            <a:r>
              <a:rPr lang="en-US" sz="4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49.5%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15471" y="7777909"/>
            <a:ext cx="5506449" cy="154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Healthcare systems worldwide lose significant clinical capacity to missed appointments early prediction supports preventive, resource efficient care.</a:t>
            </a:r>
          </a:p>
          <a:p>
            <a:pPr algn="l">
              <a:lnSpc>
                <a:spcPts val="245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015471" y="7261661"/>
            <a:ext cx="286762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matters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5289" y="6783388"/>
            <a:ext cx="5506449" cy="195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8"/>
              </a:lnSpc>
            </a:pPr>
            <a:r>
              <a:rPr lang="en-US" sz="1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------------------------------------------------------------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357" y="-734141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0"/>
                </a:moveTo>
                <a:lnTo>
                  <a:pt x="11504620" y="0"/>
                </a:lnTo>
                <a:lnTo>
                  <a:pt x="11504620" y="11699889"/>
                </a:lnTo>
                <a:lnTo>
                  <a:pt x="0" y="1169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14738" y="2458447"/>
            <a:ext cx="9177332" cy="2390324"/>
            <a:chOff x="0" y="0"/>
            <a:chExt cx="2743293" cy="7145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3293" cy="714517"/>
            </a:xfrm>
            <a:custGeom>
              <a:avLst/>
              <a:gdLst/>
              <a:ahLst/>
              <a:cxnLst/>
              <a:rect r="r" b="b" t="t" l="l"/>
              <a:pathLst>
                <a:path h="714517" w="2743293">
                  <a:moveTo>
                    <a:pt x="36274" y="0"/>
                  </a:moveTo>
                  <a:lnTo>
                    <a:pt x="2707018" y="0"/>
                  </a:lnTo>
                  <a:cubicBezTo>
                    <a:pt x="2727052" y="0"/>
                    <a:pt x="2743293" y="16241"/>
                    <a:pt x="2743293" y="36274"/>
                  </a:cubicBezTo>
                  <a:lnTo>
                    <a:pt x="2743293" y="678243"/>
                  </a:lnTo>
                  <a:cubicBezTo>
                    <a:pt x="2743293" y="698276"/>
                    <a:pt x="2727052" y="714517"/>
                    <a:pt x="2707018" y="714517"/>
                  </a:cubicBezTo>
                  <a:lnTo>
                    <a:pt x="36274" y="714517"/>
                  </a:lnTo>
                  <a:cubicBezTo>
                    <a:pt x="16241" y="714517"/>
                    <a:pt x="0" y="698276"/>
                    <a:pt x="0" y="678243"/>
                  </a:cubicBezTo>
                  <a:lnTo>
                    <a:pt x="0" y="36274"/>
                  </a:lnTo>
                  <a:cubicBezTo>
                    <a:pt x="0" y="16241"/>
                    <a:pt x="16241" y="0"/>
                    <a:pt x="36274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743293" cy="69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045091" y="-150514"/>
            <a:ext cx="8242909" cy="4343650"/>
            <a:chOff x="0" y="0"/>
            <a:chExt cx="1518775" cy="8003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8775" cy="800328"/>
            </a:xfrm>
            <a:custGeom>
              <a:avLst/>
              <a:gdLst/>
              <a:ahLst/>
              <a:cxnLst/>
              <a:rect r="r" b="b" t="t" l="l"/>
              <a:pathLst>
                <a:path h="800328" w="1518775">
                  <a:moveTo>
                    <a:pt x="40387" y="0"/>
                  </a:moveTo>
                  <a:lnTo>
                    <a:pt x="1478389" y="0"/>
                  </a:lnTo>
                  <a:cubicBezTo>
                    <a:pt x="1489100" y="0"/>
                    <a:pt x="1499373" y="4255"/>
                    <a:pt x="1506946" y="11829"/>
                  </a:cubicBezTo>
                  <a:cubicBezTo>
                    <a:pt x="1514520" y="19403"/>
                    <a:pt x="1518775" y="29675"/>
                    <a:pt x="1518775" y="40387"/>
                  </a:cubicBezTo>
                  <a:lnTo>
                    <a:pt x="1518775" y="759941"/>
                  </a:lnTo>
                  <a:cubicBezTo>
                    <a:pt x="1518775" y="770652"/>
                    <a:pt x="1514520" y="780925"/>
                    <a:pt x="1506946" y="788499"/>
                  </a:cubicBezTo>
                  <a:cubicBezTo>
                    <a:pt x="1499373" y="796073"/>
                    <a:pt x="1489100" y="800328"/>
                    <a:pt x="1478389" y="800328"/>
                  </a:cubicBezTo>
                  <a:lnTo>
                    <a:pt x="40387" y="800328"/>
                  </a:lnTo>
                  <a:cubicBezTo>
                    <a:pt x="29675" y="800328"/>
                    <a:pt x="19403" y="796073"/>
                    <a:pt x="11829" y="788499"/>
                  </a:cubicBezTo>
                  <a:cubicBezTo>
                    <a:pt x="4255" y="780925"/>
                    <a:pt x="0" y="770652"/>
                    <a:pt x="0" y="759941"/>
                  </a:cubicBezTo>
                  <a:lnTo>
                    <a:pt x="0" y="40387"/>
                  </a:lnTo>
                  <a:cubicBezTo>
                    <a:pt x="0" y="29675"/>
                    <a:pt x="4255" y="19403"/>
                    <a:pt x="11829" y="11829"/>
                  </a:cubicBezTo>
                  <a:cubicBezTo>
                    <a:pt x="19403" y="4255"/>
                    <a:pt x="29675" y="0"/>
                    <a:pt x="4038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098" r="0" b="-130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848772"/>
            <a:ext cx="1683067" cy="16830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18110" y="5048797"/>
            <a:ext cx="1683067" cy="16830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412701"/>
            <a:ext cx="1683067" cy="16830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4738" y="7412701"/>
            <a:ext cx="1683067" cy="16830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70989" y="5291061"/>
            <a:ext cx="798489" cy="798489"/>
          </a:xfrm>
          <a:custGeom>
            <a:avLst/>
            <a:gdLst/>
            <a:ahLst/>
            <a:cxnLst/>
            <a:rect r="r" b="b" t="t" l="l"/>
            <a:pathLst>
              <a:path h="798489" w="798489">
                <a:moveTo>
                  <a:pt x="0" y="0"/>
                </a:moveTo>
                <a:lnTo>
                  <a:pt x="798489" y="0"/>
                </a:lnTo>
                <a:lnTo>
                  <a:pt x="798489" y="798489"/>
                </a:lnTo>
                <a:lnTo>
                  <a:pt x="0" y="79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838567" y="5456308"/>
            <a:ext cx="849576" cy="868045"/>
          </a:xfrm>
          <a:custGeom>
            <a:avLst/>
            <a:gdLst/>
            <a:ahLst/>
            <a:cxnLst/>
            <a:rect r="r" b="b" t="t" l="l"/>
            <a:pathLst>
              <a:path h="868045" w="849576">
                <a:moveTo>
                  <a:pt x="0" y="0"/>
                </a:moveTo>
                <a:lnTo>
                  <a:pt x="849576" y="0"/>
                </a:lnTo>
                <a:lnTo>
                  <a:pt x="849576" y="868045"/>
                </a:lnTo>
                <a:lnTo>
                  <a:pt x="0" y="8680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1820" y="7805821"/>
            <a:ext cx="896827" cy="896827"/>
          </a:xfrm>
          <a:custGeom>
            <a:avLst/>
            <a:gdLst/>
            <a:ahLst/>
            <a:cxnLst/>
            <a:rect r="r" b="b" t="t" l="l"/>
            <a:pathLst>
              <a:path h="896827" w="896827">
                <a:moveTo>
                  <a:pt x="0" y="0"/>
                </a:moveTo>
                <a:lnTo>
                  <a:pt x="896827" y="0"/>
                </a:lnTo>
                <a:lnTo>
                  <a:pt x="896827" y="896827"/>
                </a:lnTo>
                <a:lnTo>
                  <a:pt x="0" y="8968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835195" y="7834603"/>
            <a:ext cx="849576" cy="868045"/>
          </a:xfrm>
          <a:custGeom>
            <a:avLst/>
            <a:gdLst/>
            <a:ahLst/>
            <a:cxnLst/>
            <a:rect r="r" b="b" t="t" l="l"/>
            <a:pathLst>
              <a:path h="868045" w="849576">
                <a:moveTo>
                  <a:pt x="0" y="0"/>
                </a:moveTo>
                <a:lnTo>
                  <a:pt x="849576" y="0"/>
                </a:lnTo>
                <a:lnTo>
                  <a:pt x="849576" y="868045"/>
                </a:lnTo>
                <a:lnTo>
                  <a:pt x="0" y="8680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048165"/>
            <a:ext cx="362498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02 · LITERATURE REVIEW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1884629"/>
            <a:ext cx="8115300" cy="176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</a:pPr>
            <a:r>
              <a:rPr lang="en-US" sz="61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 &amp; Research Gap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3814803"/>
            <a:ext cx="7655600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Reviewed five peer-reviewed studies on healthcare no-show and appointment attendance prediction.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54068" y="5284054"/>
            <a:ext cx="5915822" cy="172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Regression as an interpretable baseline</a:t>
            </a:r>
          </a:p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Tree-based ensembles (Random Forest, XGBoost)</a:t>
            </a:r>
          </a:p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SHAP / LIME for post-hoc explainability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43478" y="5484079"/>
            <a:ext cx="5915822" cy="1042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Trees &amp; Random Forests</a:t>
            </a:r>
          </a:p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Gradient boosting (XGBoost, LightGBM)</a:t>
            </a:r>
          </a:p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 Regression &amp; SVM baselines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54068" y="7847983"/>
            <a:ext cx="5915822" cy="207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 imbalance rarely handled explicitly</a:t>
            </a:r>
          </a:p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model transparency in clinical use</a:t>
            </a:r>
          </a:p>
          <a:p>
            <a:pPr algn="l" marL="453390" indent="-226695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 / single-site datasets limit generalisation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340105" y="7847983"/>
            <a:ext cx="5915822" cy="207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Combines prediction with Explainable AI (SHAP)</a:t>
            </a:r>
          </a:p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Compares 5 models on one consistent pipeline</a:t>
            </a:r>
          </a:p>
          <a:p>
            <a:pPr algn="l" marL="453392" indent="-226696" lvl="1">
              <a:lnSpc>
                <a:spcPts val="270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Delivers a usable clinical decision-support prototype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54068" y="4801147"/>
            <a:ext cx="486595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Existing AI Approaches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43478" y="5001172"/>
            <a:ext cx="486595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Algorithms Found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54068" y="7365076"/>
            <a:ext cx="486595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Identified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40105" y="7365076"/>
            <a:ext cx="486595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 Addressed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273292">
            <a:off x="10525698" y="-3088229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11699889"/>
                </a:moveTo>
                <a:lnTo>
                  <a:pt x="11504620" y="11699889"/>
                </a:lnTo>
                <a:lnTo>
                  <a:pt x="11504620" y="0"/>
                </a:lnTo>
                <a:lnTo>
                  <a:pt x="0" y="0"/>
                </a:lnTo>
                <a:lnTo>
                  <a:pt x="0" y="11699889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0620" y="-734141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0"/>
                </a:moveTo>
                <a:lnTo>
                  <a:pt x="11504620" y="0"/>
                </a:lnTo>
                <a:lnTo>
                  <a:pt x="11504620" y="11699889"/>
                </a:lnTo>
                <a:lnTo>
                  <a:pt x="0" y="1169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58365" y="3296614"/>
            <a:ext cx="3183535" cy="2291739"/>
            <a:chOff x="0" y="0"/>
            <a:chExt cx="1285223" cy="925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121593" y="0"/>
                  </a:moveTo>
                  <a:lnTo>
                    <a:pt x="1163630" y="0"/>
                  </a:lnTo>
                  <a:cubicBezTo>
                    <a:pt x="1195878" y="0"/>
                    <a:pt x="1226806" y="12811"/>
                    <a:pt x="1249609" y="35614"/>
                  </a:cubicBezTo>
                  <a:cubicBezTo>
                    <a:pt x="1272412" y="58417"/>
                    <a:pt x="1285223" y="89345"/>
                    <a:pt x="1285223" y="121593"/>
                  </a:cubicBezTo>
                  <a:lnTo>
                    <a:pt x="1285223" y="803603"/>
                  </a:lnTo>
                  <a:cubicBezTo>
                    <a:pt x="1285223" y="835852"/>
                    <a:pt x="1272412" y="866779"/>
                    <a:pt x="1249609" y="889583"/>
                  </a:cubicBezTo>
                  <a:cubicBezTo>
                    <a:pt x="1226806" y="912386"/>
                    <a:pt x="1195878" y="925196"/>
                    <a:pt x="1163630" y="925196"/>
                  </a:cubicBezTo>
                  <a:lnTo>
                    <a:pt x="121593" y="925196"/>
                  </a:lnTo>
                  <a:cubicBezTo>
                    <a:pt x="89345" y="925196"/>
                    <a:pt x="58417" y="912386"/>
                    <a:pt x="35614" y="889583"/>
                  </a:cubicBezTo>
                  <a:cubicBezTo>
                    <a:pt x="12811" y="866779"/>
                    <a:pt x="0" y="835852"/>
                    <a:pt x="0" y="803603"/>
                  </a:cubicBezTo>
                  <a:lnTo>
                    <a:pt x="0" y="121593"/>
                  </a:lnTo>
                  <a:cubicBezTo>
                    <a:pt x="0" y="89345"/>
                    <a:pt x="12811" y="58417"/>
                    <a:pt x="35614" y="35614"/>
                  </a:cubicBezTo>
                  <a:cubicBezTo>
                    <a:pt x="58417" y="12811"/>
                    <a:pt x="89345" y="0"/>
                    <a:pt x="121593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776729" y="1572416"/>
            <a:ext cx="3117391" cy="618178"/>
            <a:chOff x="0" y="0"/>
            <a:chExt cx="1995277" cy="3956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5277" cy="395663"/>
            </a:xfrm>
            <a:custGeom>
              <a:avLst/>
              <a:gdLst/>
              <a:ahLst/>
              <a:cxnLst/>
              <a:rect r="r" b="b" t="t" l="l"/>
              <a:pathLst>
                <a:path h="395663" w="1995277">
                  <a:moveTo>
                    <a:pt x="124173" y="0"/>
                  </a:moveTo>
                  <a:lnTo>
                    <a:pt x="1871104" y="0"/>
                  </a:lnTo>
                  <a:cubicBezTo>
                    <a:pt x="1939683" y="0"/>
                    <a:pt x="1995277" y="55594"/>
                    <a:pt x="1995277" y="124173"/>
                  </a:cubicBezTo>
                  <a:lnTo>
                    <a:pt x="1995277" y="271490"/>
                  </a:lnTo>
                  <a:cubicBezTo>
                    <a:pt x="1995277" y="340069"/>
                    <a:pt x="1939683" y="395663"/>
                    <a:pt x="1871104" y="395663"/>
                  </a:cubicBezTo>
                  <a:lnTo>
                    <a:pt x="124173" y="395663"/>
                  </a:lnTo>
                  <a:cubicBezTo>
                    <a:pt x="55594" y="395663"/>
                    <a:pt x="0" y="340069"/>
                    <a:pt x="0" y="271490"/>
                  </a:cubicBezTo>
                  <a:lnTo>
                    <a:pt x="0" y="124173"/>
                  </a:lnTo>
                  <a:cubicBezTo>
                    <a:pt x="0" y="55594"/>
                    <a:pt x="55594" y="0"/>
                    <a:pt x="124173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8365" y="5948672"/>
            <a:ext cx="3183535" cy="2291739"/>
            <a:chOff x="0" y="0"/>
            <a:chExt cx="1285223" cy="9251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121593" y="0"/>
                  </a:moveTo>
                  <a:lnTo>
                    <a:pt x="1163630" y="0"/>
                  </a:lnTo>
                  <a:cubicBezTo>
                    <a:pt x="1195878" y="0"/>
                    <a:pt x="1226806" y="12811"/>
                    <a:pt x="1249609" y="35614"/>
                  </a:cubicBezTo>
                  <a:cubicBezTo>
                    <a:pt x="1272412" y="58417"/>
                    <a:pt x="1285223" y="89345"/>
                    <a:pt x="1285223" y="121593"/>
                  </a:cubicBezTo>
                  <a:lnTo>
                    <a:pt x="1285223" y="803603"/>
                  </a:lnTo>
                  <a:cubicBezTo>
                    <a:pt x="1285223" y="835852"/>
                    <a:pt x="1272412" y="866779"/>
                    <a:pt x="1249609" y="889583"/>
                  </a:cubicBezTo>
                  <a:cubicBezTo>
                    <a:pt x="1226806" y="912386"/>
                    <a:pt x="1195878" y="925196"/>
                    <a:pt x="1163630" y="925196"/>
                  </a:cubicBezTo>
                  <a:lnTo>
                    <a:pt x="121593" y="925196"/>
                  </a:lnTo>
                  <a:cubicBezTo>
                    <a:pt x="89345" y="925196"/>
                    <a:pt x="58417" y="912386"/>
                    <a:pt x="35614" y="889583"/>
                  </a:cubicBezTo>
                  <a:cubicBezTo>
                    <a:pt x="12811" y="866779"/>
                    <a:pt x="0" y="835852"/>
                    <a:pt x="0" y="803603"/>
                  </a:cubicBezTo>
                  <a:lnTo>
                    <a:pt x="0" y="121593"/>
                  </a:lnTo>
                  <a:cubicBezTo>
                    <a:pt x="0" y="89345"/>
                    <a:pt x="12811" y="58417"/>
                    <a:pt x="35614" y="35614"/>
                  </a:cubicBezTo>
                  <a:cubicBezTo>
                    <a:pt x="58417" y="12811"/>
                    <a:pt x="89345" y="0"/>
                    <a:pt x="121593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513962" y="3296614"/>
            <a:ext cx="3183535" cy="2291739"/>
            <a:chOff x="0" y="0"/>
            <a:chExt cx="1285223" cy="925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121593" y="0"/>
                  </a:moveTo>
                  <a:lnTo>
                    <a:pt x="1163630" y="0"/>
                  </a:lnTo>
                  <a:cubicBezTo>
                    <a:pt x="1195878" y="0"/>
                    <a:pt x="1226806" y="12811"/>
                    <a:pt x="1249609" y="35614"/>
                  </a:cubicBezTo>
                  <a:cubicBezTo>
                    <a:pt x="1272412" y="58417"/>
                    <a:pt x="1285223" y="89345"/>
                    <a:pt x="1285223" y="121593"/>
                  </a:cubicBezTo>
                  <a:lnTo>
                    <a:pt x="1285223" y="803603"/>
                  </a:lnTo>
                  <a:cubicBezTo>
                    <a:pt x="1285223" y="835852"/>
                    <a:pt x="1272412" y="866779"/>
                    <a:pt x="1249609" y="889583"/>
                  </a:cubicBezTo>
                  <a:cubicBezTo>
                    <a:pt x="1226806" y="912386"/>
                    <a:pt x="1195878" y="925196"/>
                    <a:pt x="1163630" y="925196"/>
                  </a:cubicBezTo>
                  <a:lnTo>
                    <a:pt x="121593" y="925196"/>
                  </a:lnTo>
                  <a:cubicBezTo>
                    <a:pt x="89345" y="925196"/>
                    <a:pt x="58417" y="912386"/>
                    <a:pt x="35614" y="889583"/>
                  </a:cubicBezTo>
                  <a:cubicBezTo>
                    <a:pt x="12811" y="866779"/>
                    <a:pt x="0" y="835852"/>
                    <a:pt x="0" y="803603"/>
                  </a:cubicBezTo>
                  <a:lnTo>
                    <a:pt x="0" y="121593"/>
                  </a:lnTo>
                  <a:cubicBezTo>
                    <a:pt x="0" y="89345"/>
                    <a:pt x="12811" y="58417"/>
                    <a:pt x="35614" y="35614"/>
                  </a:cubicBezTo>
                  <a:cubicBezTo>
                    <a:pt x="58417" y="12811"/>
                    <a:pt x="89345" y="0"/>
                    <a:pt x="121593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513962" y="5948672"/>
            <a:ext cx="3183535" cy="2291739"/>
            <a:chOff x="0" y="0"/>
            <a:chExt cx="1285223" cy="925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121593" y="0"/>
                  </a:moveTo>
                  <a:lnTo>
                    <a:pt x="1163630" y="0"/>
                  </a:lnTo>
                  <a:cubicBezTo>
                    <a:pt x="1195878" y="0"/>
                    <a:pt x="1226806" y="12811"/>
                    <a:pt x="1249609" y="35614"/>
                  </a:cubicBezTo>
                  <a:cubicBezTo>
                    <a:pt x="1272412" y="58417"/>
                    <a:pt x="1285223" y="89345"/>
                    <a:pt x="1285223" y="121593"/>
                  </a:cubicBezTo>
                  <a:lnTo>
                    <a:pt x="1285223" y="803603"/>
                  </a:lnTo>
                  <a:cubicBezTo>
                    <a:pt x="1285223" y="835852"/>
                    <a:pt x="1272412" y="866779"/>
                    <a:pt x="1249609" y="889583"/>
                  </a:cubicBezTo>
                  <a:cubicBezTo>
                    <a:pt x="1226806" y="912386"/>
                    <a:pt x="1195878" y="925196"/>
                    <a:pt x="1163630" y="925196"/>
                  </a:cubicBezTo>
                  <a:lnTo>
                    <a:pt x="121593" y="925196"/>
                  </a:lnTo>
                  <a:cubicBezTo>
                    <a:pt x="89345" y="925196"/>
                    <a:pt x="58417" y="912386"/>
                    <a:pt x="35614" y="889583"/>
                  </a:cubicBezTo>
                  <a:cubicBezTo>
                    <a:pt x="12811" y="866779"/>
                    <a:pt x="0" y="835852"/>
                    <a:pt x="0" y="803603"/>
                  </a:cubicBezTo>
                  <a:lnTo>
                    <a:pt x="0" y="121593"/>
                  </a:lnTo>
                  <a:cubicBezTo>
                    <a:pt x="0" y="89345"/>
                    <a:pt x="12811" y="58417"/>
                    <a:pt x="35614" y="35614"/>
                  </a:cubicBezTo>
                  <a:cubicBezTo>
                    <a:pt x="58417" y="12811"/>
                    <a:pt x="89345" y="0"/>
                    <a:pt x="121593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275762" y="1572416"/>
            <a:ext cx="2910257" cy="618178"/>
            <a:chOff x="0" y="0"/>
            <a:chExt cx="1862701" cy="3956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62701" cy="395663"/>
            </a:xfrm>
            <a:custGeom>
              <a:avLst/>
              <a:gdLst/>
              <a:ahLst/>
              <a:cxnLst/>
              <a:rect r="r" b="b" t="t" l="l"/>
              <a:pathLst>
                <a:path h="395663" w="1862701">
                  <a:moveTo>
                    <a:pt x="133011" y="0"/>
                  </a:moveTo>
                  <a:lnTo>
                    <a:pt x="1729691" y="0"/>
                  </a:lnTo>
                  <a:cubicBezTo>
                    <a:pt x="1764967" y="0"/>
                    <a:pt x="1798799" y="14014"/>
                    <a:pt x="1823743" y="38958"/>
                  </a:cubicBezTo>
                  <a:cubicBezTo>
                    <a:pt x="1848688" y="63902"/>
                    <a:pt x="1862701" y="97734"/>
                    <a:pt x="1862701" y="133011"/>
                  </a:cubicBezTo>
                  <a:lnTo>
                    <a:pt x="1862701" y="262652"/>
                  </a:lnTo>
                  <a:cubicBezTo>
                    <a:pt x="1862701" y="336112"/>
                    <a:pt x="1803150" y="395663"/>
                    <a:pt x="1729691" y="395663"/>
                  </a:cubicBezTo>
                  <a:lnTo>
                    <a:pt x="133011" y="395663"/>
                  </a:lnTo>
                  <a:cubicBezTo>
                    <a:pt x="59551" y="395663"/>
                    <a:pt x="0" y="336112"/>
                    <a:pt x="0" y="262652"/>
                  </a:cubicBezTo>
                  <a:lnTo>
                    <a:pt x="0" y="133011"/>
                  </a:lnTo>
                  <a:cubicBezTo>
                    <a:pt x="0" y="59551"/>
                    <a:pt x="59551" y="0"/>
                    <a:pt x="13301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344150" y="2422897"/>
            <a:ext cx="3982549" cy="698956"/>
            <a:chOff x="0" y="0"/>
            <a:chExt cx="2549019" cy="447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9019" cy="447365"/>
            </a:xfrm>
            <a:custGeom>
              <a:avLst/>
              <a:gdLst/>
              <a:ahLst/>
              <a:cxnLst/>
              <a:rect r="r" b="b" t="t" l="l"/>
              <a:pathLst>
                <a:path h="447365" w="2549019">
                  <a:moveTo>
                    <a:pt x="97198" y="0"/>
                  </a:moveTo>
                  <a:lnTo>
                    <a:pt x="2451821" y="0"/>
                  </a:lnTo>
                  <a:cubicBezTo>
                    <a:pt x="2505502" y="0"/>
                    <a:pt x="2549019" y="43517"/>
                    <a:pt x="2549019" y="97198"/>
                  </a:cubicBezTo>
                  <a:lnTo>
                    <a:pt x="2549019" y="350167"/>
                  </a:lnTo>
                  <a:cubicBezTo>
                    <a:pt x="2549019" y="403848"/>
                    <a:pt x="2505502" y="447365"/>
                    <a:pt x="2451821" y="447365"/>
                  </a:cubicBezTo>
                  <a:lnTo>
                    <a:pt x="97198" y="447365"/>
                  </a:lnTo>
                  <a:cubicBezTo>
                    <a:pt x="71420" y="447365"/>
                    <a:pt x="46697" y="437125"/>
                    <a:pt x="28469" y="418896"/>
                  </a:cubicBezTo>
                  <a:cubicBezTo>
                    <a:pt x="10240" y="400668"/>
                    <a:pt x="0" y="375945"/>
                    <a:pt x="0" y="350167"/>
                  </a:cubicBezTo>
                  <a:lnTo>
                    <a:pt x="0" y="97198"/>
                  </a:lnTo>
                  <a:cubicBezTo>
                    <a:pt x="0" y="43517"/>
                    <a:pt x="43517" y="0"/>
                    <a:pt x="97198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708341" y="2468491"/>
            <a:ext cx="2910257" cy="607770"/>
            <a:chOff x="0" y="0"/>
            <a:chExt cx="1862701" cy="3890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2701" cy="389001"/>
            </a:xfrm>
            <a:custGeom>
              <a:avLst/>
              <a:gdLst/>
              <a:ahLst/>
              <a:cxnLst/>
              <a:rect r="r" b="b" t="t" l="l"/>
              <a:pathLst>
                <a:path h="389001" w="1862701">
                  <a:moveTo>
                    <a:pt x="133011" y="0"/>
                  </a:moveTo>
                  <a:lnTo>
                    <a:pt x="1729691" y="0"/>
                  </a:lnTo>
                  <a:cubicBezTo>
                    <a:pt x="1764967" y="0"/>
                    <a:pt x="1798799" y="14014"/>
                    <a:pt x="1823743" y="38958"/>
                  </a:cubicBezTo>
                  <a:cubicBezTo>
                    <a:pt x="1848688" y="63902"/>
                    <a:pt x="1862701" y="97734"/>
                    <a:pt x="1862701" y="133011"/>
                  </a:cubicBezTo>
                  <a:lnTo>
                    <a:pt x="1862701" y="255990"/>
                  </a:lnTo>
                  <a:cubicBezTo>
                    <a:pt x="1862701" y="329450"/>
                    <a:pt x="1803150" y="389001"/>
                    <a:pt x="1729691" y="389001"/>
                  </a:cubicBezTo>
                  <a:lnTo>
                    <a:pt x="133011" y="389001"/>
                  </a:lnTo>
                  <a:cubicBezTo>
                    <a:pt x="59551" y="389001"/>
                    <a:pt x="0" y="329450"/>
                    <a:pt x="0" y="255990"/>
                  </a:cubicBezTo>
                  <a:lnTo>
                    <a:pt x="0" y="133011"/>
                  </a:lnTo>
                  <a:cubicBezTo>
                    <a:pt x="0" y="59551"/>
                    <a:pt x="59551" y="0"/>
                    <a:pt x="133011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04223" y="3350454"/>
            <a:ext cx="4954302" cy="653163"/>
            <a:chOff x="0" y="0"/>
            <a:chExt cx="3170986" cy="4180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0986" cy="418055"/>
            </a:xfrm>
            <a:custGeom>
              <a:avLst/>
              <a:gdLst/>
              <a:ahLst/>
              <a:cxnLst/>
              <a:rect r="r" b="b" t="t" l="l"/>
              <a:pathLst>
                <a:path h="418055" w="3170986">
                  <a:moveTo>
                    <a:pt x="78133" y="0"/>
                  </a:moveTo>
                  <a:lnTo>
                    <a:pt x="3092853" y="0"/>
                  </a:lnTo>
                  <a:cubicBezTo>
                    <a:pt x="3113575" y="0"/>
                    <a:pt x="3133449" y="8232"/>
                    <a:pt x="3148102" y="22885"/>
                  </a:cubicBezTo>
                  <a:cubicBezTo>
                    <a:pt x="3162755" y="37538"/>
                    <a:pt x="3170986" y="57411"/>
                    <a:pt x="3170986" y="78133"/>
                  </a:cubicBezTo>
                  <a:lnTo>
                    <a:pt x="3170986" y="339922"/>
                  </a:lnTo>
                  <a:cubicBezTo>
                    <a:pt x="3170986" y="383074"/>
                    <a:pt x="3136005" y="418055"/>
                    <a:pt x="3092853" y="418055"/>
                  </a:cubicBezTo>
                  <a:lnTo>
                    <a:pt x="78133" y="418055"/>
                  </a:lnTo>
                  <a:cubicBezTo>
                    <a:pt x="57411" y="418055"/>
                    <a:pt x="37538" y="409823"/>
                    <a:pt x="22885" y="395170"/>
                  </a:cubicBezTo>
                  <a:cubicBezTo>
                    <a:pt x="8232" y="380517"/>
                    <a:pt x="0" y="360644"/>
                    <a:pt x="0" y="339922"/>
                  </a:cubicBezTo>
                  <a:lnTo>
                    <a:pt x="0" y="78133"/>
                  </a:lnTo>
                  <a:cubicBezTo>
                    <a:pt x="0" y="57411"/>
                    <a:pt x="8232" y="37538"/>
                    <a:pt x="22885" y="22885"/>
                  </a:cubicBezTo>
                  <a:cubicBezTo>
                    <a:pt x="37538" y="8232"/>
                    <a:pt x="57411" y="0"/>
                    <a:pt x="78133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50987" y="4277504"/>
            <a:ext cx="3117391" cy="585453"/>
            <a:chOff x="0" y="0"/>
            <a:chExt cx="1995277" cy="3747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95277" cy="374718"/>
            </a:xfrm>
            <a:custGeom>
              <a:avLst/>
              <a:gdLst/>
              <a:ahLst/>
              <a:cxnLst/>
              <a:rect r="r" b="b" t="t" l="l"/>
              <a:pathLst>
                <a:path h="374718" w="1995277">
                  <a:moveTo>
                    <a:pt x="124173" y="0"/>
                  </a:moveTo>
                  <a:lnTo>
                    <a:pt x="1871104" y="0"/>
                  </a:lnTo>
                  <a:cubicBezTo>
                    <a:pt x="1939683" y="0"/>
                    <a:pt x="1995277" y="55594"/>
                    <a:pt x="1995277" y="124173"/>
                  </a:cubicBezTo>
                  <a:lnTo>
                    <a:pt x="1995277" y="250545"/>
                  </a:lnTo>
                  <a:cubicBezTo>
                    <a:pt x="1995277" y="319123"/>
                    <a:pt x="1939683" y="374718"/>
                    <a:pt x="1871104" y="374718"/>
                  </a:cubicBezTo>
                  <a:lnTo>
                    <a:pt x="124173" y="374718"/>
                  </a:lnTo>
                  <a:cubicBezTo>
                    <a:pt x="55594" y="374718"/>
                    <a:pt x="0" y="319123"/>
                    <a:pt x="0" y="250545"/>
                  </a:cubicBezTo>
                  <a:lnTo>
                    <a:pt x="0" y="124173"/>
                  </a:lnTo>
                  <a:cubicBezTo>
                    <a:pt x="0" y="55594"/>
                    <a:pt x="55594" y="0"/>
                    <a:pt x="124173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853606" y="4225202"/>
            <a:ext cx="3658156" cy="685743"/>
            <a:chOff x="0" y="0"/>
            <a:chExt cx="2341392" cy="4389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1392" cy="438908"/>
            </a:xfrm>
            <a:custGeom>
              <a:avLst/>
              <a:gdLst/>
              <a:ahLst/>
              <a:cxnLst/>
              <a:rect r="r" b="b" t="t" l="l"/>
              <a:pathLst>
                <a:path h="438908" w="2341392">
                  <a:moveTo>
                    <a:pt x="105817" y="0"/>
                  </a:moveTo>
                  <a:lnTo>
                    <a:pt x="2235575" y="0"/>
                  </a:lnTo>
                  <a:cubicBezTo>
                    <a:pt x="2263639" y="0"/>
                    <a:pt x="2290554" y="11149"/>
                    <a:pt x="2310399" y="30993"/>
                  </a:cubicBezTo>
                  <a:cubicBezTo>
                    <a:pt x="2330243" y="50838"/>
                    <a:pt x="2341392" y="77753"/>
                    <a:pt x="2341392" y="105817"/>
                  </a:cubicBezTo>
                  <a:lnTo>
                    <a:pt x="2341392" y="333091"/>
                  </a:lnTo>
                  <a:cubicBezTo>
                    <a:pt x="2341392" y="391532"/>
                    <a:pt x="2294016" y="438908"/>
                    <a:pt x="2235575" y="438908"/>
                  </a:cubicBezTo>
                  <a:lnTo>
                    <a:pt x="105817" y="438908"/>
                  </a:lnTo>
                  <a:cubicBezTo>
                    <a:pt x="47376" y="438908"/>
                    <a:pt x="0" y="391532"/>
                    <a:pt x="0" y="333091"/>
                  </a:cubicBezTo>
                  <a:lnTo>
                    <a:pt x="0" y="105817"/>
                  </a:lnTo>
                  <a:cubicBezTo>
                    <a:pt x="0" y="47376"/>
                    <a:pt x="47376" y="0"/>
                    <a:pt x="105817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692706" y="5596745"/>
            <a:ext cx="6402829" cy="4107874"/>
            <a:chOff x="0" y="0"/>
            <a:chExt cx="4098112" cy="26292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98112" cy="2629233"/>
            </a:xfrm>
            <a:custGeom>
              <a:avLst/>
              <a:gdLst/>
              <a:ahLst/>
              <a:cxnLst/>
              <a:rect r="r" b="b" t="t" l="l"/>
              <a:pathLst>
                <a:path h="2629233" w="4098112">
                  <a:moveTo>
                    <a:pt x="60457" y="0"/>
                  </a:moveTo>
                  <a:lnTo>
                    <a:pt x="4037655" y="0"/>
                  </a:lnTo>
                  <a:cubicBezTo>
                    <a:pt x="4053689" y="0"/>
                    <a:pt x="4069066" y="6370"/>
                    <a:pt x="4080404" y="17707"/>
                  </a:cubicBezTo>
                  <a:cubicBezTo>
                    <a:pt x="4091742" y="29045"/>
                    <a:pt x="4098112" y="44423"/>
                    <a:pt x="4098112" y="60457"/>
                  </a:cubicBezTo>
                  <a:lnTo>
                    <a:pt x="4098112" y="2568776"/>
                  </a:lnTo>
                  <a:cubicBezTo>
                    <a:pt x="4098112" y="2584810"/>
                    <a:pt x="4091742" y="2600187"/>
                    <a:pt x="4080404" y="2611525"/>
                  </a:cubicBezTo>
                  <a:cubicBezTo>
                    <a:pt x="4069066" y="2622863"/>
                    <a:pt x="4053689" y="2629233"/>
                    <a:pt x="4037655" y="2629233"/>
                  </a:cubicBezTo>
                  <a:lnTo>
                    <a:pt x="60457" y="2629233"/>
                  </a:lnTo>
                  <a:cubicBezTo>
                    <a:pt x="44423" y="2629233"/>
                    <a:pt x="29045" y="2622863"/>
                    <a:pt x="17707" y="2611525"/>
                  </a:cubicBezTo>
                  <a:cubicBezTo>
                    <a:pt x="6370" y="2600187"/>
                    <a:pt x="0" y="2584810"/>
                    <a:pt x="0" y="2568776"/>
                  </a:cubicBezTo>
                  <a:lnTo>
                    <a:pt x="0" y="60457"/>
                  </a:lnTo>
                  <a:cubicBezTo>
                    <a:pt x="0" y="44423"/>
                    <a:pt x="6370" y="29045"/>
                    <a:pt x="17707" y="17707"/>
                  </a:cubicBezTo>
                  <a:cubicBezTo>
                    <a:pt x="29045" y="6370"/>
                    <a:pt x="44423" y="0"/>
                    <a:pt x="60457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8700" y="1048165"/>
            <a:ext cx="472526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03.  DATASET UNDERSTANDING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799795"/>
            <a:ext cx="9942299" cy="1134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5"/>
              </a:lnSpc>
            </a:pPr>
            <a:r>
              <a:rPr lang="en-US" sz="75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Overview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75964" y="3552475"/>
            <a:ext cx="2106273" cy="118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5"/>
              </a:lnSpc>
            </a:pPr>
            <a:r>
              <a:rPr lang="en-US" sz="658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92467" y="1755615"/>
            <a:ext cx="2485914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Patient Demographics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386716" y="981075"/>
            <a:ext cx="3189316" cy="42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6"/>
              </a:lnSpc>
            </a:pPr>
            <a:r>
              <a:rPr lang="en-US" sz="2493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Categories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89519" y="6051897"/>
            <a:ext cx="742500" cy="118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658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052593" y="3457511"/>
            <a:ext cx="1337237" cy="118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658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15578" y="6008318"/>
            <a:ext cx="1235430" cy="118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5"/>
              </a:lnSpc>
            </a:pPr>
            <a:r>
              <a:rPr lang="en-US" sz="658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37605" y="1741161"/>
            <a:ext cx="2186571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Appointment Details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052593" y="4848837"/>
            <a:ext cx="1992718" cy="26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Attributes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89519" y="4848837"/>
            <a:ext cx="1992718" cy="26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Patient Records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015578" y="7216234"/>
            <a:ext cx="2681919" cy="52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Variables</a:t>
            </a:r>
          </a:p>
          <a:p>
            <a:pPr algn="l">
              <a:lnSpc>
                <a:spcPts val="2062"/>
              </a:lnSpc>
            </a:pPr>
            <a:r>
              <a:rPr lang="en-US" sz="1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(no_show)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53774" y="7353296"/>
            <a:ext cx="1992718" cy="26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 Records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773518" y="2640492"/>
            <a:ext cx="3123813" cy="249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Previous Appointment History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68433" y="2632032"/>
            <a:ext cx="2186571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Laboratory Information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93513" y="3536691"/>
            <a:ext cx="3375722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Vitals (BP, Sugar, Cholesterol, BMI)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766726" y="4429886"/>
            <a:ext cx="2485914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Admission Information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25694" y="4427730"/>
            <a:ext cx="2913980" cy="25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Financial / Billing Information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049838" y="6003879"/>
            <a:ext cx="2321751" cy="31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3"/>
              </a:lnSpc>
            </a:pPr>
            <a:r>
              <a:rPr lang="en-US" sz="18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VARIABLE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49838" y="6274509"/>
            <a:ext cx="3949136" cy="83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7"/>
              </a:lnSpc>
            </a:pPr>
            <a:r>
              <a:rPr lang="en-US" sz="466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no_show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49838" y="8517351"/>
            <a:ext cx="4733913" cy="907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3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secondary datasets support bonus tasks: readmitted_30_days (readmission) and disease_risk_level (Low/Medium/High).</a:t>
            </a:r>
          </a:p>
          <a:p>
            <a:pPr algn="l">
              <a:lnSpc>
                <a:spcPts val="1925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0">
            <a:off x="11280035" y="7184601"/>
            <a:ext cx="2518540" cy="1142250"/>
            <a:chOff x="0" y="0"/>
            <a:chExt cx="872666" cy="3957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2666" cy="395786"/>
            </a:xfrm>
            <a:custGeom>
              <a:avLst/>
              <a:gdLst/>
              <a:ahLst/>
              <a:cxnLst/>
              <a:rect r="r" b="b" t="t" l="l"/>
              <a:pathLst>
                <a:path h="395786" w="872666">
                  <a:moveTo>
                    <a:pt x="46110" y="0"/>
                  </a:moveTo>
                  <a:lnTo>
                    <a:pt x="826556" y="0"/>
                  </a:lnTo>
                  <a:cubicBezTo>
                    <a:pt x="852022" y="0"/>
                    <a:pt x="872666" y="20644"/>
                    <a:pt x="872666" y="46110"/>
                  </a:cubicBezTo>
                  <a:lnTo>
                    <a:pt x="872666" y="349676"/>
                  </a:lnTo>
                  <a:cubicBezTo>
                    <a:pt x="872666" y="361905"/>
                    <a:pt x="867808" y="373633"/>
                    <a:pt x="859160" y="382281"/>
                  </a:cubicBezTo>
                  <a:cubicBezTo>
                    <a:pt x="850513" y="390928"/>
                    <a:pt x="838785" y="395786"/>
                    <a:pt x="826556" y="395786"/>
                  </a:cubicBezTo>
                  <a:lnTo>
                    <a:pt x="46110" y="395786"/>
                  </a:lnTo>
                  <a:cubicBezTo>
                    <a:pt x="20644" y="395786"/>
                    <a:pt x="0" y="375142"/>
                    <a:pt x="0" y="349676"/>
                  </a:cubicBezTo>
                  <a:lnTo>
                    <a:pt x="0" y="46110"/>
                  </a:lnTo>
                  <a:cubicBezTo>
                    <a:pt x="0" y="20644"/>
                    <a:pt x="20644" y="0"/>
                    <a:pt x="46110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989665" y="7184601"/>
            <a:ext cx="2518540" cy="1142250"/>
            <a:chOff x="0" y="0"/>
            <a:chExt cx="872666" cy="39578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2666" cy="395786"/>
            </a:xfrm>
            <a:custGeom>
              <a:avLst/>
              <a:gdLst/>
              <a:ahLst/>
              <a:cxnLst/>
              <a:rect r="r" b="b" t="t" l="l"/>
              <a:pathLst>
                <a:path h="395786" w="872666">
                  <a:moveTo>
                    <a:pt x="46110" y="0"/>
                  </a:moveTo>
                  <a:lnTo>
                    <a:pt x="826556" y="0"/>
                  </a:lnTo>
                  <a:cubicBezTo>
                    <a:pt x="852022" y="0"/>
                    <a:pt x="872666" y="20644"/>
                    <a:pt x="872666" y="46110"/>
                  </a:cubicBezTo>
                  <a:lnTo>
                    <a:pt x="872666" y="349676"/>
                  </a:lnTo>
                  <a:cubicBezTo>
                    <a:pt x="872666" y="361905"/>
                    <a:pt x="867808" y="373633"/>
                    <a:pt x="859160" y="382281"/>
                  </a:cubicBezTo>
                  <a:cubicBezTo>
                    <a:pt x="850513" y="390928"/>
                    <a:pt x="838785" y="395786"/>
                    <a:pt x="826556" y="395786"/>
                  </a:cubicBezTo>
                  <a:lnTo>
                    <a:pt x="46110" y="395786"/>
                  </a:lnTo>
                  <a:cubicBezTo>
                    <a:pt x="20644" y="395786"/>
                    <a:pt x="0" y="375142"/>
                    <a:pt x="0" y="349676"/>
                  </a:cubicBezTo>
                  <a:lnTo>
                    <a:pt x="0" y="46110"/>
                  </a:lnTo>
                  <a:cubicBezTo>
                    <a:pt x="0" y="20644"/>
                    <a:pt x="20644" y="0"/>
                    <a:pt x="46110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1296348" y="7454751"/>
            <a:ext cx="2485914" cy="49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 = Attended</a:t>
            </a:r>
          </a:p>
          <a:p>
            <a:pPr algn="ctr">
              <a:lnSpc>
                <a:spcPts val="1925"/>
              </a:lnSpc>
            </a:pPr>
            <a:r>
              <a:rPr lang="en-US" sz="14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505 records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022291" y="7495082"/>
            <a:ext cx="2485914" cy="49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"/>
              </a:lnSpc>
            </a:pPr>
            <a:r>
              <a:rPr lang="en-US" sz="14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 = No-Show</a:t>
            </a:r>
          </a:p>
          <a:p>
            <a:pPr algn="ctr">
              <a:lnSpc>
                <a:spcPts val="1925"/>
              </a:lnSpc>
            </a:pPr>
            <a:r>
              <a:rPr lang="en-US" sz="149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495 records</a:t>
            </a:r>
          </a:p>
        </p:txBody>
      </p:sp>
    </p:spTree>
  </p:cSld>
  <p:clrMapOvr>
    <a:masterClrMapping/>
  </p:clrMapOvr>
  <p:transition spd="slow">
    <p:cover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273292">
            <a:off x="10525698" y="-3088229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11699889"/>
                </a:moveTo>
                <a:lnTo>
                  <a:pt x="11504620" y="11699889"/>
                </a:lnTo>
                <a:lnTo>
                  <a:pt x="11504620" y="0"/>
                </a:lnTo>
                <a:lnTo>
                  <a:pt x="0" y="0"/>
                </a:lnTo>
                <a:lnTo>
                  <a:pt x="0" y="11699889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0620" y="-734141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0"/>
                </a:moveTo>
                <a:lnTo>
                  <a:pt x="11504620" y="0"/>
                </a:lnTo>
                <a:lnTo>
                  <a:pt x="11504620" y="11699889"/>
                </a:lnTo>
                <a:lnTo>
                  <a:pt x="0" y="1169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6576" y="-908045"/>
            <a:ext cx="7040916" cy="5711532"/>
            <a:chOff x="0" y="0"/>
            <a:chExt cx="1854398" cy="15042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4398" cy="1504272"/>
            </a:xfrm>
            <a:custGeom>
              <a:avLst/>
              <a:gdLst/>
              <a:ahLst/>
              <a:cxnLst/>
              <a:rect r="r" b="b" t="t" l="l"/>
              <a:pathLst>
                <a:path h="1504272" w="1854398">
                  <a:moveTo>
                    <a:pt x="43982" y="0"/>
                  </a:moveTo>
                  <a:lnTo>
                    <a:pt x="1810415" y="0"/>
                  </a:lnTo>
                  <a:cubicBezTo>
                    <a:pt x="1834706" y="0"/>
                    <a:pt x="1854398" y="19692"/>
                    <a:pt x="1854398" y="43982"/>
                  </a:cubicBezTo>
                  <a:lnTo>
                    <a:pt x="1854398" y="1460289"/>
                  </a:lnTo>
                  <a:cubicBezTo>
                    <a:pt x="1854398" y="1484580"/>
                    <a:pt x="1834706" y="1504272"/>
                    <a:pt x="1810415" y="1504272"/>
                  </a:cubicBezTo>
                  <a:lnTo>
                    <a:pt x="43982" y="1504272"/>
                  </a:lnTo>
                  <a:cubicBezTo>
                    <a:pt x="19692" y="1504272"/>
                    <a:pt x="0" y="1484580"/>
                    <a:pt x="0" y="1460289"/>
                  </a:cubicBezTo>
                  <a:lnTo>
                    <a:pt x="0" y="43982"/>
                  </a:lnTo>
                  <a:cubicBezTo>
                    <a:pt x="0" y="19692"/>
                    <a:pt x="19692" y="0"/>
                    <a:pt x="43982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854398" cy="148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34286" y="1712833"/>
            <a:ext cx="6411355" cy="4198011"/>
            <a:chOff x="0" y="0"/>
            <a:chExt cx="1138294" cy="7453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8294" cy="745329"/>
            </a:xfrm>
            <a:custGeom>
              <a:avLst/>
              <a:gdLst/>
              <a:ahLst/>
              <a:cxnLst/>
              <a:rect r="r" b="b" t="t" l="l"/>
              <a:pathLst>
                <a:path h="745329" w="1138294">
                  <a:moveTo>
                    <a:pt x="45886" y="0"/>
                  </a:moveTo>
                  <a:lnTo>
                    <a:pt x="1092407" y="0"/>
                  </a:lnTo>
                  <a:cubicBezTo>
                    <a:pt x="1117750" y="0"/>
                    <a:pt x="1138294" y="20544"/>
                    <a:pt x="1138294" y="45886"/>
                  </a:cubicBezTo>
                  <a:lnTo>
                    <a:pt x="1138294" y="699443"/>
                  </a:lnTo>
                  <a:cubicBezTo>
                    <a:pt x="1138294" y="724785"/>
                    <a:pt x="1117750" y="745329"/>
                    <a:pt x="1092407" y="745329"/>
                  </a:cubicBezTo>
                  <a:lnTo>
                    <a:pt x="45886" y="745329"/>
                  </a:lnTo>
                  <a:cubicBezTo>
                    <a:pt x="33716" y="745329"/>
                    <a:pt x="22045" y="740495"/>
                    <a:pt x="13440" y="731889"/>
                  </a:cubicBezTo>
                  <a:cubicBezTo>
                    <a:pt x="4834" y="723284"/>
                    <a:pt x="0" y="711613"/>
                    <a:pt x="0" y="699443"/>
                  </a:cubicBezTo>
                  <a:lnTo>
                    <a:pt x="0" y="45886"/>
                  </a:lnTo>
                  <a:cubicBezTo>
                    <a:pt x="0" y="20544"/>
                    <a:pt x="20544" y="0"/>
                    <a:pt x="45886" y="0"/>
                  </a:cubicBezTo>
                  <a:close/>
                </a:path>
              </a:pathLst>
            </a:custGeom>
            <a:blipFill>
              <a:blip r:embed="rId4">
                <a:alphaModFix amt="96000"/>
              </a:blip>
              <a:stretch>
                <a:fillRect l="0" t="-780" r="0" b="-78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85467" y="7754398"/>
            <a:ext cx="17317067" cy="2281203"/>
            <a:chOff x="0" y="0"/>
            <a:chExt cx="4560874" cy="6008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60874" cy="600811"/>
            </a:xfrm>
            <a:custGeom>
              <a:avLst/>
              <a:gdLst/>
              <a:ahLst/>
              <a:cxnLst/>
              <a:rect r="r" b="b" t="t" l="l"/>
              <a:pathLst>
                <a:path h="600811" w="4560874">
                  <a:moveTo>
                    <a:pt x="30848" y="0"/>
                  </a:moveTo>
                  <a:lnTo>
                    <a:pt x="4530026" y="0"/>
                  </a:lnTo>
                  <a:cubicBezTo>
                    <a:pt x="4538207" y="0"/>
                    <a:pt x="4546054" y="3250"/>
                    <a:pt x="4551838" y="9035"/>
                  </a:cubicBezTo>
                  <a:cubicBezTo>
                    <a:pt x="4557623" y="14820"/>
                    <a:pt x="4560874" y="22666"/>
                    <a:pt x="4560874" y="30848"/>
                  </a:cubicBezTo>
                  <a:lnTo>
                    <a:pt x="4560874" y="569963"/>
                  </a:lnTo>
                  <a:cubicBezTo>
                    <a:pt x="4560874" y="587000"/>
                    <a:pt x="4547062" y="600811"/>
                    <a:pt x="4530026" y="600811"/>
                  </a:cubicBezTo>
                  <a:lnTo>
                    <a:pt x="30848" y="600811"/>
                  </a:lnTo>
                  <a:cubicBezTo>
                    <a:pt x="22666" y="600811"/>
                    <a:pt x="14820" y="597561"/>
                    <a:pt x="9035" y="591776"/>
                  </a:cubicBezTo>
                  <a:cubicBezTo>
                    <a:pt x="3250" y="585991"/>
                    <a:pt x="0" y="578144"/>
                    <a:pt x="0" y="569963"/>
                  </a:cubicBezTo>
                  <a:lnTo>
                    <a:pt x="0" y="30848"/>
                  </a:lnTo>
                  <a:cubicBezTo>
                    <a:pt x="0" y="22666"/>
                    <a:pt x="3250" y="14820"/>
                    <a:pt x="9035" y="9035"/>
                  </a:cubicBezTo>
                  <a:cubicBezTo>
                    <a:pt x="14820" y="3250"/>
                    <a:pt x="22666" y="0"/>
                    <a:pt x="30848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4560874" cy="581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4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04.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2789" y="5921600"/>
            <a:ext cx="9492581" cy="154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3"/>
              </a:lnSpc>
            </a:pPr>
            <a:r>
              <a:rPr lang="en-US" sz="59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 </a:t>
            </a:r>
          </a:p>
          <a:p>
            <a:pPr algn="l">
              <a:lnSpc>
                <a:spcPts val="5226"/>
              </a:lnSpc>
            </a:pPr>
            <a:r>
              <a:rPr lang="en-US" sz="48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&amp; </a:t>
            </a:r>
            <a:r>
              <a:rPr lang="en-US" sz="48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5370" y="2848249"/>
            <a:ext cx="7029720" cy="6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Duplicate check confirmed none present; outliers flagged in vitals &amp; billing using the IQR method.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5370" y="4471239"/>
            <a:ext cx="7029720" cy="103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Categorical features one-hot / label encoded; numeric features standardised for scale-sensitive models.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45370" y="6431372"/>
            <a:ext cx="7029720" cy="103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New features created: Age_Group, High_BP flag, Missed_Rate, and previous-visit behaviour indicators.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5370" y="2298011"/>
            <a:ext cx="7362706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Duplicates &amp; Outliers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5370" y="3922135"/>
            <a:ext cx="7362706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Encoding &amp; Scaling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5370" y="5882269"/>
            <a:ext cx="7362706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45370" y="1345697"/>
            <a:ext cx="7029720" cy="69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4"/>
              </a:lnSpc>
            </a:pPr>
            <a:r>
              <a:rPr lang="en-US" sz="21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906 missing entries handled with median / mode imputation, justified per attribute type.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45370" y="796594"/>
            <a:ext cx="7362706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Missing Values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8611" y="8034003"/>
            <a:ext cx="4567745" cy="4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4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Engineered Features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611" y="8616344"/>
            <a:ext cx="1831210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Age_Group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82748" y="8616344"/>
            <a:ext cx="2664404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High_BP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8616344"/>
            <a:ext cx="2664404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Missed_Rate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0231" y="8616344"/>
            <a:ext cx="2664404" cy="36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9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Prior No-Show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0" y="9147949"/>
            <a:ext cx="4020943" cy="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Ratio of missed to total previous appointments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2146" y="9157162"/>
            <a:ext cx="3947605" cy="26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Indicator of past no-show behaviour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82748" y="9147949"/>
            <a:ext cx="3644920" cy="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Flag derived from systolic / diastolic thresholds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8611" y="9147949"/>
            <a:ext cx="3404943" cy="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6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Binned age into clinically meaningful groups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68188">
            <a:off x="6199675" y="-5914248"/>
            <a:ext cx="12389551" cy="15593256"/>
          </a:xfrm>
          <a:custGeom>
            <a:avLst/>
            <a:gdLst/>
            <a:ahLst/>
            <a:cxnLst/>
            <a:rect r="r" b="b" t="t" l="l"/>
            <a:pathLst>
              <a:path h="15593256" w="12389551">
                <a:moveTo>
                  <a:pt x="0" y="0"/>
                </a:moveTo>
                <a:lnTo>
                  <a:pt x="12389550" y="0"/>
                </a:lnTo>
                <a:lnTo>
                  <a:pt x="12389550" y="15593256"/>
                </a:lnTo>
                <a:lnTo>
                  <a:pt x="0" y="155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744164" y="4899517"/>
            <a:ext cx="9900938" cy="5983118"/>
            <a:chOff x="0" y="0"/>
            <a:chExt cx="1655790" cy="10005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5790" cy="1000591"/>
            </a:xfrm>
            <a:custGeom>
              <a:avLst/>
              <a:gdLst/>
              <a:ahLst/>
              <a:cxnLst/>
              <a:rect r="r" b="b" t="t" l="l"/>
              <a:pathLst>
                <a:path h="1000591" w="1655790">
                  <a:moveTo>
                    <a:pt x="35187" y="0"/>
                  </a:moveTo>
                  <a:lnTo>
                    <a:pt x="1620602" y="0"/>
                  </a:lnTo>
                  <a:cubicBezTo>
                    <a:pt x="1640036" y="0"/>
                    <a:pt x="1655790" y="15754"/>
                    <a:pt x="1655790" y="35187"/>
                  </a:cubicBezTo>
                  <a:lnTo>
                    <a:pt x="1655790" y="965403"/>
                  </a:lnTo>
                  <a:cubicBezTo>
                    <a:pt x="1655790" y="984837"/>
                    <a:pt x="1640036" y="1000591"/>
                    <a:pt x="1620602" y="1000591"/>
                  </a:cubicBezTo>
                  <a:lnTo>
                    <a:pt x="35187" y="1000591"/>
                  </a:lnTo>
                  <a:cubicBezTo>
                    <a:pt x="15754" y="1000591"/>
                    <a:pt x="0" y="984837"/>
                    <a:pt x="0" y="965403"/>
                  </a:cubicBezTo>
                  <a:lnTo>
                    <a:pt x="0" y="35187"/>
                  </a:lnTo>
                  <a:cubicBezTo>
                    <a:pt x="0" y="15754"/>
                    <a:pt x="15754" y="0"/>
                    <a:pt x="35187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6307912" cy="5578116"/>
            <a:chOff x="0" y="0"/>
            <a:chExt cx="1168347" cy="1033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8347" cy="1033175"/>
            </a:xfrm>
            <a:custGeom>
              <a:avLst/>
              <a:gdLst/>
              <a:ahLst/>
              <a:cxnLst/>
              <a:rect r="r" b="b" t="t" l="l"/>
              <a:pathLst>
                <a:path h="1033175" w="1168347">
                  <a:moveTo>
                    <a:pt x="55230" y="0"/>
                  </a:moveTo>
                  <a:lnTo>
                    <a:pt x="1113117" y="0"/>
                  </a:lnTo>
                  <a:cubicBezTo>
                    <a:pt x="1127765" y="0"/>
                    <a:pt x="1141813" y="5819"/>
                    <a:pt x="1152170" y="16177"/>
                  </a:cubicBezTo>
                  <a:cubicBezTo>
                    <a:pt x="1162528" y="26534"/>
                    <a:pt x="1168347" y="40582"/>
                    <a:pt x="1168347" y="55230"/>
                  </a:cubicBezTo>
                  <a:lnTo>
                    <a:pt x="1168347" y="977945"/>
                  </a:lnTo>
                  <a:cubicBezTo>
                    <a:pt x="1168347" y="992593"/>
                    <a:pt x="1162528" y="1006640"/>
                    <a:pt x="1152170" y="1016998"/>
                  </a:cubicBezTo>
                  <a:cubicBezTo>
                    <a:pt x="1141813" y="1027356"/>
                    <a:pt x="1127765" y="1033175"/>
                    <a:pt x="1113117" y="1033175"/>
                  </a:cubicBezTo>
                  <a:lnTo>
                    <a:pt x="55230" y="1033175"/>
                  </a:lnTo>
                  <a:cubicBezTo>
                    <a:pt x="40582" y="1033175"/>
                    <a:pt x="26534" y="1027356"/>
                    <a:pt x="16177" y="1016998"/>
                  </a:cubicBezTo>
                  <a:cubicBezTo>
                    <a:pt x="5819" y="1006640"/>
                    <a:pt x="0" y="992593"/>
                    <a:pt x="0" y="977945"/>
                  </a:cubicBezTo>
                  <a:lnTo>
                    <a:pt x="0" y="55230"/>
                  </a:lnTo>
                  <a:cubicBezTo>
                    <a:pt x="0" y="40582"/>
                    <a:pt x="5819" y="26534"/>
                    <a:pt x="16177" y="16177"/>
                  </a:cubicBezTo>
                  <a:cubicBezTo>
                    <a:pt x="26534" y="5819"/>
                    <a:pt x="40582" y="0"/>
                    <a:pt x="55230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048165"/>
            <a:ext cx="57096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05.  EXPLORATORY DATA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01430"/>
            <a:ext cx="7760785" cy="28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59"/>
              </a:lnSpc>
            </a:pPr>
            <a:r>
              <a:rPr lang="en-US" sz="67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Exploratory Data Analysis  - </a:t>
            </a:r>
          </a:p>
          <a:p>
            <a:pPr algn="l">
              <a:lnSpc>
                <a:spcPts val="7259"/>
              </a:lnSpc>
            </a:pPr>
            <a:r>
              <a:rPr lang="en-US" sz="67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Key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247" y="6475033"/>
            <a:ext cx="5794819" cy="3345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Descriptive statistics across all numeric attributes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Correlation analysis between vitals, billing &amp; attendance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Distribution analysis (histograms, boxplots)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 balance check on the target variable</a:t>
            </a:r>
          </a:p>
          <a:p>
            <a:pPr algn="l">
              <a:lnSpc>
                <a:spcPts val="29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331917" y="6285890"/>
            <a:ext cx="9060505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Longer waiting_days strongly correlates with a higher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chance of no-show.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43248" y="2151533"/>
            <a:ext cx="5093983" cy="4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25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Visualisations Produced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1793" y="5627308"/>
            <a:ext cx="49074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Performed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8795" y="5426377"/>
            <a:ext cx="5001073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2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Found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31917" y="7626203"/>
            <a:ext cx="9060505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Patients with prior missed appointments are far more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likely to miss again.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31917" y="8966515"/>
            <a:ext cx="9060505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No-show vs attended classes are nearly balanced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(49.5% vs 50.5%).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996842" y="6207427"/>
            <a:ext cx="144530" cy="930737"/>
            <a:chOff x="0" y="0"/>
            <a:chExt cx="32227" cy="2075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227" cy="207532"/>
            </a:xfrm>
            <a:custGeom>
              <a:avLst/>
              <a:gdLst/>
              <a:ahLst/>
              <a:cxnLst/>
              <a:rect r="r" b="b" t="t" l="l"/>
              <a:pathLst>
                <a:path h="207532" w="32227">
                  <a:moveTo>
                    <a:pt x="0" y="0"/>
                  </a:moveTo>
                  <a:lnTo>
                    <a:pt x="32227" y="0"/>
                  </a:lnTo>
                  <a:lnTo>
                    <a:pt x="32227" y="207532"/>
                  </a:lnTo>
                  <a:lnTo>
                    <a:pt x="0" y="2075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996842" y="8888052"/>
            <a:ext cx="144530" cy="930737"/>
            <a:chOff x="0" y="0"/>
            <a:chExt cx="32227" cy="2075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227" cy="207532"/>
            </a:xfrm>
            <a:custGeom>
              <a:avLst/>
              <a:gdLst/>
              <a:ahLst/>
              <a:cxnLst/>
              <a:rect r="r" b="b" t="t" l="l"/>
              <a:pathLst>
                <a:path h="207532" w="32227">
                  <a:moveTo>
                    <a:pt x="0" y="0"/>
                  </a:moveTo>
                  <a:lnTo>
                    <a:pt x="32227" y="0"/>
                  </a:lnTo>
                  <a:lnTo>
                    <a:pt x="32227" y="207532"/>
                  </a:lnTo>
                  <a:lnTo>
                    <a:pt x="0" y="2075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996842" y="7547739"/>
            <a:ext cx="144530" cy="930737"/>
            <a:chOff x="0" y="0"/>
            <a:chExt cx="32227" cy="2075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227" cy="207532"/>
            </a:xfrm>
            <a:custGeom>
              <a:avLst/>
              <a:gdLst/>
              <a:ahLst/>
              <a:cxnLst/>
              <a:rect r="r" b="b" t="t" l="l"/>
              <a:pathLst>
                <a:path h="207532" w="32227">
                  <a:moveTo>
                    <a:pt x="0" y="0"/>
                  </a:moveTo>
                  <a:lnTo>
                    <a:pt x="32227" y="0"/>
                  </a:lnTo>
                  <a:lnTo>
                    <a:pt x="32227" y="207532"/>
                  </a:lnTo>
                  <a:lnTo>
                    <a:pt x="0" y="20753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712164" y="3718530"/>
            <a:ext cx="2322544" cy="641675"/>
            <a:chOff x="0" y="0"/>
            <a:chExt cx="1432103" cy="3956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32103" cy="395663"/>
            </a:xfrm>
            <a:custGeom>
              <a:avLst/>
              <a:gdLst/>
              <a:ahLst/>
              <a:cxnLst/>
              <a:rect r="r" b="b" t="t" l="l"/>
              <a:pathLst>
                <a:path h="395663" w="1432103">
                  <a:moveTo>
                    <a:pt x="166669" y="0"/>
                  </a:moveTo>
                  <a:lnTo>
                    <a:pt x="1265434" y="0"/>
                  </a:lnTo>
                  <a:cubicBezTo>
                    <a:pt x="1309638" y="0"/>
                    <a:pt x="1352031" y="17560"/>
                    <a:pt x="1383287" y="48816"/>
                  </a:cubicBezTo>
                  <a:cubicBezTo>
                    <a:pt x="1414544" y="80073"/>
                    <a:pt x="1432103" y="122466"/>
                    <a:pt x="1432103" y="166669"/>
                  </a:cubicBezTo>
                  <a:lnTo>
                    <a:pt x="1432103" y="228994"/>
                  </a:lnTo>
                  <a:cubicBezTo>
                    <a:pt x="1432103" y="321043"/>
                    <a:pt x="1357483" y="395663"/>
                    <a:pt x="1265434" y="395663"/>
                  </a:cubicBezTo>
                  <a:lnTo>
                    <a:pt x="166669" y="395663"/>
                  </a:lnTo>
                  <a:cubicBezTo>
                    <a:pt x="74620" y="395663"/>
                    <a:pt x="0" y="321043"/>
                    <a:pt x="0" y="228994"/>
                  </a:cubicBezTo>
                  <a:lnTo>
                    <a:pt x="0" y="166669"/>
                  </a:lnTo>
                  <a:cubicBezTo>
                    <a:pt x="0" y="74620"/>
                    <a:pt x="74620" y="0"/>
                    <a:pt x="166669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760313" y="2852065"/>
            <a:ext cx="2134403" cy="641675"/>
            <a:chOff x="0" y="0"/>
            <a:chExt cx="1316094" cy="3956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6094" cy="395663"/>
            </a:xfrm>
            <a:custGeom>
              <a:avLst/>
              <a:gdLst/>
              <a:ahLst/>
              <a:cxnLst/>
              <a:rect r="r" b="b" t="t" l="l"/>
              <a:pathLst>
                <a:path h="395663" w="1316094">
                  <a:moveTo>
                    <a:pt x="181360" y="0"/>
                  </a:moveTo>
                  <a:lnTo>
                    <a:pt x="1134734" y="0"/>
                  </a:lnTo>
                  <a:cubicBezTo>
                    <a:pt x="1182833" y="0"/>
                    <a:pt x="1228963" y="19108"/>
                    <a:pt x="1262975" y="53119"/>
                  </a:cubicBezTo>
                  <a:cubicBezTo>
                    <a:pt x="1296986" y="87131"/>
                    <a:pt x="1316094" y="133261"/>
                    <a:pt x="1316094" y="181360"/>
                  </a:cubicBezTo>
                  <a:lnTo>
                    <a:pt x="1316094" y="214303"/>
                  </a:lnTo>
                  <a:cubicBezTo>
                    <a:pt x="1316094" y="262402"/>
                    <a:pt x="1296986" y="308532"/>
                    <a:pt x="1262975" y="342544"/>
                  </a:cubicBezTo>
                  <a:cubicBezTo>
                    <a:pt x="1228963" y="376555"/>
                    <a:pt x="1182833" y="395663"/>
                    <a:pt x="1134734" y="395663"/>
                  </a:cubicBezTo>
                  <a:lnTo>
                    <a:pt x="181360" y="395663"/>
                  </a:lnTo>
                  <a:cubicBezTo>
                    <a:pt x="81198" y="395663"/>
                    <a:pt x="0" y="314465"/>
                    <a:pt x="0" y="214303"/>
                  </a:cubicBezTo>
                  <a:lnTo>
                    <a:pt x="0" y="181360"/>
                  </a:lnTo>
                  <a:cubicBezTo>
                    <a:pt x="0" y="133261"/>
                    <a:pt x="19108" y="87131"/>
                    <a:pt x="53119" y="53119"/>
                  </a:cubicBezTo>
                  <a:cubicBezTo>
                    <a:pt x="87131" y="19108"/>
                    <a:pt x="133261" y="0"/>
                    <a:pt x="181360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92946" y="2868831"/>
            <a:ext cx="3914483" cy="677990"/>
            <a:chOff x="0" y="0"/>
            <a:chExt cx="2413708" cy="4180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13708" cy="418055"/>
            </a:xfrm>
            <a:custGeom>
              <a:avLst/>
              <a:gdLst/>
              <a:ahLst/>
              <a:cxnLst/>
              <a:rect r="r" b="b" t="t" l="l"/>
              <a:pathLst>
                <a:path h="418055" w="2413708">
                  <a:moveTo>
                    <a:pt x="98888" y="0"/>
                  </a:moveTo>
                  <a:lnTo>
                    <a:pt x="2314820" y="0"/>
                  </a:lnTo>
                  <a:cubicBezTo>
                    <a:pt x="2341046" y="0"/>
                    <a:pt x="2366199" y="10419"/>
                    <a:pt x="2384744" y="28964"/>
                  </a:cubicBezTo>
                  <a:cubicBezTo>
                    <a:pt x="2403289" y="47509"/>
                    <a:pt x="2413708" y="72661"/>
                    <a:pt x="2413708" y="98888"/>
                  </a:cubicBezTo>
                  <a:lnTo>
                    <a:pt x="2413708" y="319167"/>
                  </a:lnTo>
                  <a:cubicBezTo>
                    <a:pt x="2413708" y="345394"/>
                    <a:pt x="2403289" y="370546"/>
                    <a:pt x="2384744" y="389091"/>
                  </a:cubicBezTo>
                  <a:cubicBezTo>
                    <a:pt x="2366199" y="407637"/>
                    <a:pt x="2341046" y="418055"/>
                    <a:pt x="2314820" y="418055"/>
                  </a:cubicBezTo>
                  <a:lnTo>
                    <a:pt x="98888" y="418055"/>
                  </a:lnTo>
                  <a:cubicBezTo>
                    <a:pt x="72661" y="418055"/>
                    <a:pt x="47509" y="407637"/>
                    <a:pt x="28964" y="389091"/>
                  </a:cubicBezTo>
                  <a:cubicBezTo>
                    <a:pt x="10419" y="370546"/>
                    <a:pt x="0" y="345394"/>
                    <a:pt x="0" y="319167"/>
                  </a:cubicBezTo>
                  <a:lnTo>
                    <a:pt x="0" y="98888"/>
                  </a:lnTo>
                  <a:cubicBezTo>
                    <a:pt x="0" y="72661"/>
                    <a:pt x="10419" y="47509"/>
                    <a:pt x="28964" y="28964"/>
                  </a:cubicBezTo>
                  <a:cubicBezTo>
                    <a:pt x="47509" y="10419"/>
                    <a:pt x="72661" y="0"/>
                    <a:pt x="98888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560701" y="3770581"/>
            <a:ext cx="3235883" cy="607706"/>
            <a:chOff x="0" y="0"/>
            <a:chExt cx="1995277" cy="3747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5277" cy="374718"/>
            </a:xfrm>
            <a:custGeom>
              <a:avLst/>
              <a:gdLst/>
              <a:ahLst/>
              <a:cxnLst/>
              <a:rect r="r" b="b" t="t" l="l"/>
              <a:pathLst>
                <a:path h="374718" w="1995277">
                  <a:moveTo>
                    <a:pt x="119626" y="0"/>
                  </a:moveTo>
                  <a:lnTo>
                    <a:pt x="1875651" y="0"/>
                  </a:lnTo>
                  <a:cubicBezTo>
                    <a:pt x="1941719" y="0"/>
                    <a:pt x="1995277" y="53558"/>
                    <a:pt x="1995277" y="119626"/>
                  </a:cubicBezTo>
                  <a:lnTo>
                    <a:pt x="1995277" y="255092"/>
                  </a:lnTo>
                  <a:cubicBezTo>
                    <a:pt x="1995277" y="286818"/>
                    <a:pt x="1982674" y="317246"/>
                    <a:pt x="1960240" y="339680"/>
                  </a:cubicBezTo>
                  <a:cubicBezTo>
                    <a:pt x="1937805" y="362114"/>
                    <a:pt x="1907378" y="374718"/>
                    <a:pt x="1875651" y="374718"/>
                  </a:cubicBezTo>
                  <a:lnTo>
                    <a:pt x="119626" y="374718"/>
                  </a:lnTo>
                  <a:cubicBezTo>
                    <a:pt x="87899" y="374718"/>
                    <a:pt x="57472" y="362114"/>
                    <a:pt x="35038" y="339680"/>
                  </a:cubicBezTo>
                  <a:cubicBezTo>
                    <a:pt x="12603" y="317246"/>
                    <a:pt x="0" y="286818"/>
                    <a:pt x="0" y="255092"/>
                  </a:cubicBezTo>
                  <a:lnTo>
                    <a:pt x="0" y="119626"/>
                  </a:lnTo>
                  <a:cubicBezTo>
                    <a:pt x="0" y="87899"/>
                    <a:pt x="12603" y="57472"/>
                    <a:pt x="35038" y="35038"/>
                  </a:cubicBezTo>
                  <a:cubicBezTo>
                    <a:pt x="57472" y="12603"/>
                    <a:pt x="87899" y="0"/>
                    <a:pt x="119626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86227" y="3718530"/>
            <a:ext cx="2608024" cy="711809"/>
            <a:chOff x="0" y="0"/>
            <a:chExt cx="1608133" cy="4389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8133" cy="438908"/>
            </a:xfrm>
            <a:custGeom>
              <a:avLst/>
              <a:gdLst/>
              <a:ahLst/>
              <a:cxnLst/>
              <a:rect r="r" b="b" t="t" l="l"/>
              <a:pathLst>
                <a:path h="438908" w="1608133">
                  <a:moveTo>
                    <a:pt x="148425" y="0"/>
                  </a:moveTo>
                  <a:lnTo>
                    <a:pt x="1459708" y="0"/>
                  </a:lnTo>
                  <a:cubicBezTo>
                    <a:pt x="1499072" y="0"/>
                    <a:pt x="1536825" y="15638"/>
                    <a:pt x="1564660" y="43473"/>
                  </a:cubicBezTo>
                  <a:cubicBezTo>
                    <a:pt x="1592495" y="71308"/>
                    <a:pt x="1608133" y="109060"/>
                    <a:pt x="1608133" y="148425"/>
                  </a:cubicBezTo>
                  <a:lnTo>
                    <a:pt x="1608133" y="290483"/>
                  </a:lnTo>
                  <a:cubicBezTo>
                    <a:pt x="1608133" y="329848"/>
                    <a:pt x="1592495" y="367600"/>
                    <a:pt x="1564660" y="395435"/>
                  </a:cubicBezTo>
                  <a:cubicBezTo>
                    <a:pt x="1536825" y="423271"/>
                    <a:pt x="1499072" y="438908"/>
                    <a:pt x="1459708" y="438908"/>
                  </a:cubicBezTo>
                  <a:lnTo>
                    <a:pt x="148425" y="438908"/>
                  </a:lnTo>
                  <a:cubicBezTo>
                    <a:pt x="66452" y="438908"/>
                    <a:pt x="0" y="372456"/>
                    <a:pt x="0" y="290483"/>
                  </a:cubicBezTo>
                  <a:lnTo>
                    <a:pt x="0" y="148425"/>
                  </a:lnTo>
                  <a:cubicBezTo>
                    <a:pt x="0" y="109060"/>
                    <a:pt x="15638" y="71308"/>
                    <a:pt x="43473" y="43473"/>
                  </a:cubicBezTo>
                  <a:cubicBezTo>
                    <a:pt x="71308" y="15638"/>
                    <a:pt x="109060" y="0"/>
                    <a:pt x="14842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583235" y="3905585"/>
            <a:ext cx="2580404" cy="24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5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Histograms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92673" y="3039120"/>
            <a:ext cx="2269683" cy="24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5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Boxplots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98171" y="3072759"/>
            <a:ext cx="3504033" cy="25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5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Class Distribution Chart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88441" y="3939367"/>
            <a:ext cx="2580404" cy="25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5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Correlation Heatmap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677869" y="3939367"/>
            <a:ext cx="3024740" cy="25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54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Scatterplots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68188">
            <a:off x="6199675" y="-5914248"/>
            <a:ext cx="12389551" cy="15593256"/>
          </a:xfrm>
          <a:custGeom>
            <a:avLst/>
            <a:gdLst/>
            <a:ahLst/>
            <a:cxnLst/>
            <a:rect r="r" b="b" t="t" l="l"/>
            <a:pathLst>
              <a:path h="15593256" w="12389551">
                <a:moveTo>
                  <a:pt x="0" y="0"/>
                </a:moveTo>
                <a:lnTo>
                  <a:pt x="12389550" y="0"/>
                </a:lnTo>
                <a:lnTo>
                  <a:pt x="12389550" y="15593256"/>
                </a:lnTo>
                <a:lnTo>
                  <a:pt x="0" y="155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8542" y="4804042"/>
            <a:ext cx="19385084" cy="5276268"/>
            <a:chOff x="0" y="0"/>
            <a:chExt cx="6253126" cy="17019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53126" cy="1701987"/>
            </a:xfrm>
            <a:custGeom>
              <a:avLst/>
              <a:gdLst/>
              <a:ahLst/>
              <a:cxnLst/>
              <a:rect r="r" b="b" t="t" l="l"/>
              <a:pathLst>
                <a:path h="1701987" w="6253126">
                  <a:moveTo>
                    <a:pt x="24362" y="0"/>
                  </a:moveTo>
                  <a:lnTo>
                    <a:pt x="6228764" y="0"/>
                  </a:lnTo>
                  <a:cubicBezTo>
                    <a:pt x="6235225" y="0"/>
                    <a:pt x="6241421" y="2567"/>
                    <a:pt x="6245990" y="7135"/>
                  </a:cubicBezTo>
                  <a:cubicBezTo>
                    <a:pt x="6250559" y="11704"/>
                    <a:pt x="6253126" y="17901"/>
                    <a:pt x="6253126" y="24362"/>
                  </a:cubicBezTo>
                  <a:lnTo>
                    <a:pt x="6253126" y="1677626"/>
                  </a:lnTo>
                  <a:cubicBezTo>
                    <a:pt x="6253126" y="1684087"/>
                    <a:pt x="6250559" y="1690283"/>
                    <a:pt x="6245990" y="1694852"/>
                  </a:cubicBezTo>
                  <a:cubicBezTo>
                    <a:pt x="6241421" y="1699421"/>
                    <a:pt x="6235225" y="1701987"/>
                    <a:pt x="6228764" y="1701987"/>
                  </a:cubicBezTo>
                  <a:lnTo>
                    <a:pt x="24362" y="1701987"/>
                  </a:lnTo>
                  <a:cubicBezTo>
                    <a:pt x="17901" y="1701987"/>
                    <a:pt x="11704" y="1699421"/>
                    <a:pt x="7135" y="1694852"/>
                  </a:cubicBezTo>
                  <a:cubicBezTo>
                    <a:pt x="2567" y="1690283"/>
                    <a:pt x="0" y="1684087"/>
                    <a:pt x="0" y="1677626"/>
                  </a:cubicBezTo>
                  <a:lnTo>
                    <a:pt x="0" y="24362"/>
                  </a:lnTo>
                  <a:cubicBezTo>
                    <a:pt x="0" y="17901"/>
                    <a:pt x="2567" y="11704"/>
                    <a:pt x="7135" y="7135"/>
                  </a:cubicBezTo>
                  <a:cubicBezTo>
                    <a:pt x="11704" y="2567"/>
                    <a:pt x="17901" y="0"/>
                    <a:pt x="24362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24997" y="5118559"/>
            <a:ext cx="2842902" cy="4326810"/>
            <a:chOff x="0" y="0"/>
            <a:chExt cx="1285223" cy="1956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5223" cy="1956070"/>
            </a:xfrm>
            <a:custGeom>
              <a:avLst/>
              <a:gdLst/>
              <a:ahLst/>
              <a:cxnLst/>
              <a:rect r="r" b="b" t="t" l="l"/>
              <a:pathLst>
                <a:path h="1956070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1901605"/>
                  </a:lnTo>
                  <a:cubicBezTo>
                    <a:pt x="1285223" y="1931685"/>
                    <a:pt x="1260838" y="1956070"/>
                    <a:pt x="1230758" y="1956070"/>
                  </a:cubicBezTo>
                  <a:lnTo>
                    <a:pt x="54465" y="1956070"/>
                  </a:lnTo>
                  <a:cubicBezTo>
                    <a:pt x="24385" y="1956070"/>
                    <a:pt x="0" y="1931685"/>
                    <a:pt x="0" y="1901605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353360" y="5118559"/>
            <a:ext cx="2842902" cy="4326810"/>
            <a:chOff x="0" y="0"/>
            <a:chExt cx="1285223" cy="19560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5223" cy="1956070"/>
            </a:xfrm>
            <a:custGeom>
              <a:avLst/>
              <a:gdLst/>
              <a:ahLst/>
              <a:cxnLst/>
              <a:rect r="r" b="b" t="t" l="l"/>
              <a:pathLst>
                <a:path h="1956070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1901605"/>
                  </a:lnTo>
                  <a:cubicBezTo>
                    <a:pt x="1285223" y="1931685"/>
                    <a:pt x="1260838" y="1956070"/>
                    <a:pt x="1230758" y="1956070"/>
                  </a:cubicBezTo>
                  <a:lnTo>
                    <a:pt x="54465" y="1956070"/>
                  </a:lnTo>
                  <a:cubicBezTo>
                    <a:pt x="24385" y="1956070"/>
                    <a:pt x="0" y="1931685"/>
                    <a:pt x="0" y="1901605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482013" y="5118559"/>
            <a:ext cx="2842902" cy="4326810"/>
            <a:chOff x="0" y="0"/>
            <a:chExt cx="1285223" cy="19560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5223" cy="1956070"/>
            </a:xfrm>
            <a:custGeom>
              <a:avLst/>
              <a:gdLst/>
              <a:ahLst/>
              <a:cxnLst/>
              <a:rect r="r" b="b" t="t" l="l"/>
              <a:pathLst>
                <a:path h="1956070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1901605"/>
                  </a:lnTo>
                  <a:cubicBezTo>
                    <a:pt x="1285223" y="1931685"/>
                    <a:pt x="1260838" y="1956070"/>
                    <a:pt x="1230758" y="1956070"/>
                  </a:cubicBezTo>
                  <a:lnTo>
                    <a:pt x="54465" y="1956070"/>
                  </a:lnTo>
                  <a:cubicBezTo>
                    <a:pt x="24385" y="1956070"/>
                    <a:pt x="0" y="1931685"/>
                    <a:pt x="0" y="1901605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10665" y="5143500"/>
            <a:ext cx="2842902" cy="4326810"/>
            <a:chOff x="0" y="0"/>
            <a:chExt cx="1285223" cy="1956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5223" cy="1956070"/>
            </a:xfrm>
            <a:custGeom>
              <a:avLst/>
              <a:gdLst/>
              <a:ahLst/>
              <a:cxnLst/>
              <a:rect r="r" b="b" t="t" l="l"/>
              <a:pathLst>
                <a:path h="1956070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1901605"/>
                  </a:lnTo>
                  <a:cubicBezTo>
                    <a:pt x="1285223" y="1931685"/>
                    <a:pt x="1260838" y="1956070"/>
                    <a:pt x="1230758" y="1956070"/>
                  </a:cubicBezTo>
                  <a:lnTo>
                    <a:pt x="54465" y="1956070"/>
                  </a:lnTo>
                  <a:cubicBezTo>
                    <a:pt x="24385" y="1956070"/>
                    <a:pt x="0" y="1931685"/>
                    <a:pt x="0" y="1901605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739317" y="5118559"/>
            <a:ext cx="2842902" cy="4326810"/>
            <a:chOff x="0" y="0"/>
            <a:chExt cx="1285223" cy="19560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5223" cy="1956070"/>
            </a:xfrm>
            <a:custGeom>
              <a:avLst/>
              <a:gdLst/>
              <a:ahLst/>
              <a:cxnLst/>
              <a:rect r="r" b="b" t="t" l="l"/>
              <a:pathLst>
                <a:path h="1956070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1901605"/>
                  </a:lnTo>
                  <a:cubicBezTo>
                    <a:pt x="1285223" y="1931685"/>
                    <a:pt x="1260838" y="1956070"/>
                    <a:pt x="1230758" y="1956070"/>
                  </a:cubicBezTo>
                  <a:lnTo>
                    <a:pt x="54465" y="1956070"/>
                  </a:lnTo>
                  <a:cubicBezTo>
                    <a:pt x="24385" y="1956070"/>
                    <a:pt x="0" y="1931685"/>
                    <a:pt x="0" y="1901605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3003" y="8741310"/>
            <a:ext cx="2666891" cy="947772"/>
            <a:chOff x="0" y="0"/>
            <a:chExt cx="559689" cy="201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768" y="7650"/>
              <a:ext cx="508152" cy="186170"/>
            </a:xfrm>
            <a:custGeom>
              <a:avLst/>
              <a:gdLst/>
              <a:ahLst/>
              <a:cxnLst/>
              <a:rect r="r" b="b" t="t" l="l"/>
              <a:pathLst>
                <a:path h="186170" w="508152">
                  <a:moveTo>
                    <a:pt x="351748" y="7559"/>
                  </a:moveTo>
                  <a:lnTo>
                    <a:pt x="395107" y="14311"/>
                  </a:lnTo>
                  <a:cubicBezTo>
                    <a:pt x="430648" y="19845"/>
                    <a:pt x="464021" y="34919"/>
                    <a:pt x="491670" y="57926"/>
                  </a:cubicBezTo>
                  <a:lnTo>
                    <a:pt x="491670" y="57926"/>
                  </a:lnTo>
                  <a:cubicBezTo>
                    <a:pt x="502113" y="66616"/>
                    <a:pt x="508153" y="79499"/>
                    <a:pt x="508153" y="93085"/>
                  </a:cubicBezTo>
                  <a:cubicBezTo>
                    <a:pt x="508153" y="106671"/>
                    <a:pt x="502113" y="119553"/>
                    <a:pt x="491670" y="128243"/>
                  </a:cubicBezTo>
                  <a:lnTo>
                    <a:pt x="491670" y="128243"/>
                  </a:lnTo>
                  <a:cubicBezTo>
                    <a:pt x="464021" y="151251"/>
                    <a:pt x="430648" y="166325"/>
                    <a:pt x="395107" y="171859"/>
                  </a:cubicBezTo>
                  <a:lnTo>
                    <a:pt x="351748" y="178611"/>
                  </a:lnTo>
                  <a:cubicBezTo>
                    <a:pt x="287024" y="188689"/>
                    <a:pt x="221129" y="188689"/>
                    <a:pt x="156405" y="178611"/>
                  </a:cubicBezTo>
                  <a:lnTo>
                    <a:pt x="113046" y="171859"/>
                  </a:lnTo>
                  <a:cubicBezTo>
                    <a:pt x="77505" y="166325"/>
                    <a:pt x="44132" y="151251"/>
                    <a:pt x="16483" y="128243"/>
                  </a:cubicBezTo>
                  <a:lnTo>
                    <a:pt x="16483" y="128243"/>
                  </a:lnTo>
                  <a:cubicBezTo>
                    <a:pt x="6040" y="119553"/>
                    <a:pt x="0" y="106671"/>
                    <a:pt x="0" y="93085"/>
                  </a:cubicBezTo>
                  <a:cubicBezTo>
                    <a:pt x="0" y="79499"/>
                    <a:pt x="6040" y="66616"/>
                    <a:pt x="16483" y="57926"/>
                  </a:cubicBezTo>
                  <a:lnTo>
                    <a:pt x="16483" y="57926"/>
                  </a:lnTo>
                  <a:cubicBezTo>
                    <a:pt x="44132" y="34919"/>
                    <a:pt x="77505" y="19845"/>
                    <a:pt x="113046" y="14311"/>
                  </a:cubicBezTo>
                  <a:lnTo>
                    <a:pt x="156405" y="7559"/>
                  </a:lnTo>
                  <a:cubicBezTo>
                    <a:pt x="221129" y="-2520"/>
                    <a:pt x="287024" y="-2520"/>
                    <a:pt x="351748" y="75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83982" y="-17394"/>
              <a:ext cx="391725" cy="188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57275" y="1048165"/>
            <a:ext cx="492221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06 · MODEL 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1837940"/>
            <a:ext cx="14847976" cy="205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94"/>
              </a:lnSpc>
            </a:pPr>
            <a:r>
              <a:rPr lang="en-US" sz="72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Learning Model Development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3378" y="6498058"/>
            <a:ext cx="2466141" cy="185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Interpretable linear baseline; strong reference for feature relationships.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1518" y="5449331"/>
            <a:ext cx="22498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7275" y="3953199"/>
            <a:ext cx="16202025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Five classification algorithms were trained and compared on an identical, stratified train/test split (80/20).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6296" y="6510174"/>
            <a:ext cx="2466141" cy="223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Non-linear, rule-based model capturing threshold effects (e.g. waiting days).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49880" y="5610128"/>
            <a:ext cx="224986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 Tree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34949" y="6510174"/>
            <a:ext cx="2466141" cy="185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Ensemble of trees improving robustness and reducing overfitting.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78533" y="5449331"/>
            <a:ext cx="22498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67568" y="6510174"/>
            <a:ext cx="2466141" cy="185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Distance-based model predicting from similar historical patients.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5708" y="5449331"/>
            <a:ext cx="224986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K-Nearest Neighbors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27698" y="6510174"/>
            <a:ext cx="2466141" cy="2231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Gradient boosting ensemble evaluated as an advanced, high-capacity model.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04360" y="5649356"/>
            <a:ext cx="224986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21518" y="9048699"/>
            <a:ext cx="2249862" cy="294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3"/>
              </a:lnSpc>
            </a:pPr>
            <a:r>
              <a:rPr lang="en-US" b="true" sz="1700" i="true">
                <a:solidFill>
                  <a:srgbClr val="01345C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Best Model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77822">
            <a:off x="2160015" y="-2979181"/>
            <a:ext cx="13773835" cy="13813076"/>
          </a:xfrm>
          <a:custGeom>
            <a:avLst/>
            <a:gdLst/>
            <a:ahLst/>
            <a:cxnLst/>
            <a:rect r="r" b="b" t="t" l="l"/>
            <a:pathLst>
              <a:path h="13813076" w="13773835">
                <a:moveTo>
                  <a:pt x="0" y="0"/>
                </a:moveTo>
                <a:lnTo>
                  <a:pt x="13773835" y="0"/>
                </a:lnTo>
                <a:lnTo>
                  <a:pt x="13773835" y="13813077"/>
                </a:lnTo>
                <a:lnTo>
                  <a:pt x="0" y="13813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71965" y="2950133"/>
            <a:ext cx="7601085" cy="6922506"/>
            <a:chOff x="0" y="0"/>
            <a:chExt cx="1044339" cy="9511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4339" cy="951107"/>
            </a:xfrm>
            <a:custGeom>
              <a:avLst/>
              <a:gdLst/>
              <a:ahLst/>
              <a:cxnLst/>
              <a:rect r="r" b="b" t="t" l="l"/>
              <a:pathLst>
                <a:path h="951107" w="1044339">
                  <a:moveTo>
                    <a:pt x="14259" y="0"/>
                  </a:moveTo>
                  <a:lnTo>
                    <a:pt x="1030080" y="0"/>
                  </a:lnTo>
                  <a:cubicBezTo>
                    <a:pt x="1033862" y="0"/>
                    <a:pt x="1037489" y="1502"/>
                    <a:pt x="1040163" y="4176"/>
                  </a:cubicBezTo>
                  <a:cubicBezTo>
                    <a:pt x="1042837" y="6851"/>
                    <a:pt x="1044339" y="10478"/>
                    <a:pt x="1044339" y="14259"/>
                  </a:cubicBezTo>
                  <a:lnTo>
                    <a:pt x="1044339" y="936848"/>
                  </a:lnTo>
                  <a:cubicBezTo>
                    <a:pt x="1044339" y="944723"/>
                    <a:pt x="1037955" y="951107"/>
                    <a:pt x="1030080" y="951107"/>
                  </a:cubicBezTo>
                  <a:lnTo>
                    <a:pt x="14259" y="951107"/>
                  </a:lnTo>
                  <a:cubicBezTo>
                    <a:pt x="10478" y="951107"/>
                    <a:pt x="6851" y="949605"/>
                    <a:pt x="4176" y="946931"/>
                  </a:cubicBezTo>
                  <a:cubicBezTo>
                    <a:pt x="1502" y="944256"/>
                    <a:pt x="0" y="940630"/>
                    <a:pt x="0" y="936848"/>
                  </a:cubicBezTo>
                  <a:lnTo>
                    <a:pt x="0" y="14259"/>
                  </a:lnTo>
                  <a:cubicBezTo>
                    <a:pt x="0" y="10478"/>
                    <a:pt x="1502" y="6851"/>
                    <a:pt x="4176" y="4176"/>
                  </a:cubicBezTo>
                  <a:cubicBezTo>
                    <a:pt x="6851" y="1502"/>
                    <a:pt x="10478" y="0"/>
                    <a:pt x="14259" y="0"/>
                  </a:cubicBezTo>
                  <a:close/>
                </a:path>
              </a:pathLst>
            </a:custGeom>
            <a:blipFill>
              <a:blip r:embed="rId4"/>
              <a:stretch>
                <a:fillRect l="-2219" t="0" r="-221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894015"/>
            <a:ext cx="940325" cy="5945281"/>
          </a:xfrm>
          <a:custGeom>
            <a:avLst/>
            <a:gdLst/>
            <a:ahLst/>
            <a:cxnLst/>
            <a:rect r="r" b="b" t="t" l="l"/>
            <a:pathLst>
              <a:path h="5945281" w="940325">
                <a:moveTo>
                  <a:pt x="0" y="0"/>
                </a:moveTo>
                <a:lnTo>
                  <a:pt x="940325" y="0"/>
                </a:lnTo>
                <a:lnTo>
                  <a:pt x="940325" y="5945281"/>
                </a:lnTo>
                <a:lnTo>
                  <a:pt x="0" y="5945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71550"/>
            <a:ext cx="451829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06.  MODEL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42506"/>
            <a:ext cx="16701073" cy="184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8"/>
              </a:lnSpc>
            </a:pPr>
            <a:r>
              <a:rPr lang="en-US" sz="64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Hyperparameter Tuning &amp; Validation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89087" y="4443603"/>
            <a:ext cx="591582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80% train / 20% test, stratify=y to preserve class balance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89087" y="3898783"/>
            <a:ext cx="4865956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Stratified Split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9087" y="6033506"/>
            <a:ext cx="591582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Exhaustive search across candidate hyperparameter grids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89087" y="5488686"/>
            <a:ext cx="4865956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GridSearchCV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89087" y="7623410"/>
            <a:ext cx="591582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combination validated across 5 folds before selection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89087" y="7078589"/>
            <a:ext cx="4865956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5-Fold Cross-Validation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89087" y="9246655"/>
            <a:ext cx="5915822" cy="62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Highest cross-validated score refit on the full training 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89087" y="8701835"/>
            <a:ext cx="4865956" cy="37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Best Params Selected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1674" y="-1441382"/>
            <a:ext cx="10311140" cy="9745201"/>
          </a:xfrm>
          <a:custGeom>
            <a:avLst/>
            <a:gdLst/>
            <a:ahLst/>
            <a:cxnLst/>
            <a:rect r="r" b="b" t="t" l="l"/>
            <a:pathLst>
              <a:path h="9745201" w="10311140">
                <a:moveTo>
                  <a:pt x="0" y="0"/>
                </a:moveTo>
                <a:lnTo>
                  <a:pt x="10311140" y="0"/>
                </a:lnTo>
                <a:lnTo>
                  <a:pt x="10311140" y="9745201"/>
                </a:lnTo>
                <a:lnTo>
                  <a:pt x="0" y="97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4758" y="5143500"/>
            <a:ext cx="10244008" cy="4628977"/>
            <a:chOff x="0" y="0"/>
            <a:chExt cx="5452771" cy="24639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2771" cy="2463953"/>
            </a:xfrm>
            <a:custGeom>
              <a:avLst/>
              <a:gdLst/>
              <a:ahLst/>
              <a:cxnLst/>
              <a:rect r="r" b="b" t="t" l="l"/>
              <a:pathLst>
                <a:path h="2463953" w="5452771">
                  <a:moveTo>
                    <a:pt x="37788" y="0"/>
                  </a:moveTo>
                  <a:lnTo>
                    <a:pt x="5414983" y="0"/>
                  </a:lnTo>
                  <a:cubicBezTo>
                    <a:pt x="5435853" y="0"/>
                    <a:pt x="5452771" y="16918"/>
                    <a:pt x="5452771" y="37788"/>
                  </a:cubicBezTo>
                  <a:lnTo>
                    <a:pt x="5452771" y="2426165"/>
                  </a:lnTo>
                  <a:cubicBezTo>
                    <a:pt x="5452771" y="2436187"/>
                    <a:pt x="5448790" y="2445798"/>
                    <a:pt x="5441704" y="2452885"/>
                  </a:cubicBezTo>
                  <a:cubicBezTo>
                    <a:pt x="5434617" y="2459972"/>
                    <a:pt x="5425005" y="2463953"/>
                    <a:pt x="5414983" y="2463953"/>
                  </a:cubicBezTo>
                  <a:lnTo>
                    <a:pt x="37788" y="2463953"/>
                  </a:lnTo>
                  <a:cubicBezTo>
                    <a:pt x="16918" y="2463953"/>
                    <a:pt x="0" y="2447035"/>
                    <a:pt x="0" y="2426165"/>
                  </a:cubicBezTo>
                  <a:lnTo>
                    <a:pt x="0" y="37788"/>
                  </a:lnTo>
                  <a:cubicBezTo>
                    <a:pt x="0" y="16918"/>
                    <a:pt x="16918" y="0"/>
                    <a:pt x="3778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241" r="0" b="-1224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747244" y="1386326"/>
            <a:ext cx="7145622" cy="3757174"/>
          </a:xfrm>
          <a:custGeom>
            <a:avLst/>
            <a:gdLst/>
            <a:ahLst/>
            <a:cxnLst/>
            <a:rect r="r" b="b" t="t" l="l"/>
            <a:pathLst>
              <a:path h="3757174" w="7145622">
                <a:moveTo>
                  <a:pt x="0" y="0"/>
                </a:moveTo>
                <a:lnTo>
                  <a:pt x="7145622" y="0"/>
                </a:lnTo>
                <a:lnTo>
                  <a:pt x="7145622" y="3757174"/>
                </a:lnTo>
                <a:lnTo>
                  <a:pt x="0" y="3757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757" t="-55979" r="-6757" b="-7243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48165"/>
            <a:ext cx="35247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07. MODEL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28415"/>
            <a:ext cx="9480066" cy="3430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7"/>
              </a:lnSpc>
            </a:pPr>
            <a:r>
              <a:rPr lang="en-US" sz="81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Model Evaluation &amp; Comparison</a:t>
            </a:r>
          </a:p>
          <a:p>
            <a:pPr algn="l">
              <a:lnSpc>
                <a:spcPts val="875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920536" y="7649124"/>
            <a:ext cx="6384201" cy="9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 i="true">
                <a:solidFill>
                  <a:srgbClr val="000000">
                    <a:alpha val="48627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Best-performing model justified by the highest Accuracy, F1 and ROC-AUC among all five candidates on the held-out test set.</a:t>
            </a:r>
          </a:p>
        </p:txBody>
      </p:sp>
    </p:spTree>
  </p:cSld>
  <p:clrMapOvr>
    <a:masterClrMapping/>
  </p:clrMapOvr>
  <p:transition spd="slow">
    <p:cover dir="d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568188">
            <a:off x="6809490" y="-5097976"/>
            <a:ext cx="12389551" cy="15593256"/>
          </a:xfrm>
          <a:custGeom>
            <a:avLst/>
            <a:gdLst/>
            <a:ahLst/>
            <a:cxnLst/>
            <a:rect r="r" b="b" t="t" l="l"/>
            <a:pathLst>
              <a:path h="15593256" w="12389551">
                <a:moveTo>
                  <a:pt x="0" y="0"/>
                </a:moveTo>
                <a:lnTo>
                  <a:pt x="12389551" y="0"/>
                </a:lnTo>
                <a:lnTo>
                  <a:pt x="12389551" y="15593256"/>
                </a:lnTo>
                <a:lnTo>
                  <a:pt x="0" y="155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48542" y="5299936"/>
            <a:ext cx="19385084" cy="4542022"/>
            <a:chOff x="0" y="0"/>
            <a:chExt cx="6253126" cy="1465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53126" cy="1465138"/>
            </a:xfrm>
            <a:custGeom>
              <a:avLst/>
              <a:gdLst/>
              <a:ahLst/>
              <a:cxnLst/>
              <a:rect r="r" b="b" t="t" l="l"/>
              <a:pathLst>
                <a:path h="1465138" w="6253126">
                  <a:moveTo>
                    <a:pt x="24362" y="0"/>
                  </a:moveTo>
                  <a:lnTo>
                    <a:pt x="6228764" y="0"/>
                  </a:lnTo>
                  <a:cubicBezTo>
                    <a:pt x="6235225" y="0"/>
                    <a:pt x="6241421" y="2567"/>
                    <a:pt x="6245990" y="7135"/>
                  </a:cubicBezTo>
                  <a:cubicBezTo>
                    <a:pt x="6250559" y="11704"/>
                    <a:pt x="6253126" y="17901"/>
                    <a:pt x="6253126" y="24362"/>
                  </a:cubicBezTo>
                  <a:lnTo>
                    <a:pt x="6253126" y="1440777"/>
                  </a:lnTo>
                  <a:cubicBezTo>
                    <a:pt x="6253126" y="1447238"/>
                    <a:pt x="6250559" y="1453434"/>
                    <a:pt x="6245990" y="1458003"/>
                  </a:cubicBezTo>
                  <a:cubicBezTo>
                    <a:pt x="6241421" y="1462572"/>
                    <a:pt x="6235225" y="1465138"/>
                    <a:pt x="6228764" y="1465138"/>
                  </a:cubicBezTo>
                  <a:lnTo>
                    <a:pt x="24362" y="1465138"/>
                  </a:lnTo>
                  <a:cubicBezTo>
                    <a:pt x="17901" y="1465138"/>
                    <a:pt x="11704" y="1462572"/>
                    <a:pt x="7135" y="1458003"/>
                  </a:cubicBezTo>
                  <a:cubicBezTo>
                    <a:pt x="2567" y="1453434"/>
                    <a:pt x="0" y="1447238"/>
                    <a:pt x="0" y="1440777"/>
                  </a:cubicBezTo>
                  <a:lnTo>
                    <a:pt x="0" y="24362"/>
                  </a:lnTo>
                  <a:cubicBezTo>
                    <a:pt x="0" y="17901"/>
                    <a:pt x="2567" y="11704"/>
                    <a:pt x="7135" y="7135"/>
                  </a:cubicBezTo>
                  <a:cubicBezTo>
                    <a:pt x="11704" y="2567"/>
                    <a:pt x="17901" y="0"/>
                    <a:pt x="24362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781539" y="4738260"/>
            <a:ext cx="6597685" cy="4520040"/>
            <a:chOff x="0" y="0"/>
            <a:chExt cx="942035" cy="6453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2035" cy="645383"/>
            </a:xfrm>
            <a:custGeom>
              <a:avLst/>
              <a:gdLst/>
              <a:ahLst/>
              <a:cxnLst/>
              <a:rect r="r" b="b" t="t" l="l"/>
              <a:pathLst>
                <a:path h="645383" w="942035">
                  <a:moveTo>
                    <a:pt x="66886" y="0"/>
                  </a:moveTo>
                  <a:lnTo>
                    <a:pt x="875149" y="0"/>
                  </a:lnTo>
                  <a:cubicBezTo>
                    <a:pt x="912089" y="0"/>
                    <a:pt x="942035" y="29946"/>
                    <a:pt x="942035" y="66886"/>
                  </a:cubicBezTo>
                  <a:lnTo>
                    <a:pt x="942035" y="578498"/>
                  </a:lnTo>
                  <a:cubicBezTo>
                    <a:pt x="942035" y="615438"/>
                    <a:pt x="912089" y="645383"/>
                    <a:pt x="875149" y="645383"/>
                  </a:cubicBezTo>
                  <a:lnTo>
                    <a:pt x="66886" y="645383"/>
                  </a:lnTo>
                  <a:cubicBezTo>
                    <a:pt x="29946" y="645383"/>
                    <a:pt x="0" y="615438"/>
                    <a:pt x="0" y="578498"/>
                  </a:cubicBezTo>
                  <a:lnTo>
                    <a:pt x="0" y="66886"/>
                  </a:lnTo>
                  <a:cubicBezTo>
                    <a:pt x="0" y="29946"/>
                    <a:pt x="29946" y="0"/>
                    <a:pt x="66886" y="0"/>
                  </a:cubicBezTo>
                  <a:close/>
                </a:path>
              </a:pathLst>
            </a:custGeom>
            <a:blipFill>
              <a:blip r:embed="rId4"/>
              <a:stretch>
                <a:fillRect l="-1382" t="0" r="-138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07. BEST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660754"/>
            <a:ext cx="7345284" cy="268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1"/>
              </a:lnSpc>
            </a:pPr>
            <a:r>
              <a:rPr lang="en-US" sz="63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Best-P</a:t>
            </a:r>
            <a:r>
              <a:rPr lang="en-US" sz="63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erforming Model: Logistic Regression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2169" y="6489758"/>
            <a:ext cx="8797069" cy="260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Highest Accuracy, F1-Score and ROC-AUC of all five models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Strong, near linear relationship between key features and no-show risk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Fully interpretable coefficients - important for clinical trust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generalisation with least evidence of overfitting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2169" y="5741714"/>
            <a:ext cx="515251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Logistic Regression Won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510124"/>
            <a:ext cx="9843903" cy="58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Selected after comparing all five models across Accuracy, Precision, Recall, F1-Score and ROC-AUC on the held-out test set.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89332" y="1971307"/>
            <a:ext cx="2842902" cy="2046527"/>
            <a:chOff x="0" y="0"/>
            <a:chExt cx="1285223" cy="925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870732"/>
                  </a:lnTo>
                  <a:cubicBezTo>
                    <a:pt x="1285223" y="900812"/>
                    <a:pt x="1260838" y="925196"/>
                    <a:pt x="1230758" y="925196"/>
                  </a:cubicBezTo>
                  <a:lnTo>
                    <a:pt x="54465" y="925196"/>
                  </a:lnTo>
                  <a:cubicBezTo>
                    <a:pt x="24385" y="925196"/>
                    <a:pt x="0" y="900812"/>
                    <a:pt x="0" y="870732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49845" y="1971307"/>
            <a:ext cx="2842902" cy="2046527"/>
            <a:chOff x="0" y="0"/>
            <a:chExt cx="1285223" cy="9251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870732"/>
                  </a:lnTo>
                  <a:cubicBezTo>
                    <a:pt x="1285223" y="900812"/>
                    <a:pt x="1260838" y="925196"/>
                    <a:pt x="1230758" y="925196"/>
                  </a:cubicBezTo>
                  <a:lnTo>
                    <a:pt x="54465" y="925196"/>
                  </a:lnTo>
                  <a:cubicBezTo>
                    <a:pt x="24385" y="925196"/>
                    <a:pt x="0" y="900812"/>
                    <a:pt x="0" y="870732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21609" y="2236071"/>
            <a:ext cx="3178347" cy="79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43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63.00%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81539" y="2196369"/>
            <a:ext cx="2579515" cy="79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43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0.63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30843" y="3344861"/>
            <a:ext cx="1779501" cy="2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1"/>
              </a:lnSpc>
            </a:pPr>
            <a:r>
              <a:rPr lang="en-US" sz="14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F1-Score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63653" y="3344861"/>
            <a:ext cx="1779501" cy="2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1"/>
              </a:lnSpc>
            </a:pPr>
            <a:r>
              <a:rPr lang="en-US" sz="14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744020" y="1971307"/>
            <a:ext cx="2842902" cy="2046527"/>
            <a:chOff x="0" y="0"/>
            <a:chExt cx="1285223" cy="925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5223" cy="925196"/>
            </a:xfrm>
            <a:custGeom>
              <a:avLst/>
              <a:gdLst/>
              <a:ahLst/>
              <a:cxnLst/>
              <a:rect r="r" b="b" t="t" l="l"/>
              <a:pathLst>
                <a:path h="925196" w="1285223">
                  <a:moveTo>
                    <a:pt x="54465" y="0"/>
                  </a:moveTo>
                  <a:lnTo>
                    <a:pt x="1230758" y="0"/>
                  </a:lnTo>
                  <a:cubicBezTo>
                    <a:pt x="1260838" y="0"/>
                    <a:pt x="1285223" y="24385"/>
                    <a:pt x="1285223" y="54465"/>
                  </a:cubicBezTo>
                  <a:lnTo>
                    <a:pt x="1285223" y="870732"/>
                  </a:lnTo>
                  <a:cubicBezTo>
                    <a:pt x="1285223" y="900812"/>
                    <a:pt x="1260838" y="925196"/>
                    <a:pt x="1230758" y="925196"/>
                  </a:cubicBezTo>
                  <a:lnTo>
                    <a:pt x="54465" y="925196"/>
                  </a:lnTo>
                  <a:cubicBezTo>
                    <a:pt x="24385" y="925196"/>
                    <a:pt x="0" y="900812"/>
                    <a:pt x="0" y="870732"/>
                  </a:cubicBezTo>
                  <a:lnTo>
                    <a:pt x="0" y="54465"/>
                  </a:lnTo>
                  <a:cubicBezTo>
                    <a:pt x="0" y="24385"/>
                    <a:pt x="24385" y="0"/>
                    <a:pt x="54465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673137" y="2196369"/>
            <a:ext cx="2883263" cy="79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sz="436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0.6709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25018" y="3344861"/>
            <a:ext cx="1779501" cy="2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1"/>
              </a:lnSpc>
            </a:pPr>
            <a:r>
              <a:rPr lang="en-US" sz="14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ROC-AUC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811032">
            <a:off x="2247829" y="-4067962"/>
            <a:ext cx="13085992" cy="13123274"/>
          </a:xfrm>
          <a:custGeom>
            <a:avLst/>
            <a:gdLst/>
            <a:ahLst/>
            <a:cxnLst/>
            <a:rect r="r" b="b" t="t" l="l"/>
            <a:pathLst>
              <a:path h="13123274" w="13085992">
                <a:moveTo>
                  <a:pt x="0" y="0"/>
                </a:moveTo>
                <a:lnTo>
                  <a:pt x="13085992" y="0"/>
                </a:lnTo>
                <a:lnTo>
                  <a:pt x="13085992" y="13123275"/>
                </a:lnTo>
                <a:lnTo>
                  <a:pt x="0" y="13123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4858" y="5143500"/>
            <a:ext cx="8289142" cy="4808618"/>
          </a:xfrm>
          <a:custGeom>
            <a:avLst/>
            <a:gdLst/>
            <a:ahLst/>
            <a:cxnLst/>
            <a:rect r="r" b="b" t="t" l="l"/>
            <a:pathLst>
              <a:path h="4808618" w="8289142">
                <a:moveTo>
                  <a:pt x="0" y="0"/>
                </a:moveTo>
                <a:lnTo>
                  <a:pt x="8289142" y="0"/>
                </a:lnTo>
                <a:lnTo>
                  <a:pt x="8289142" y="4808618"/>
                </a:lnTo>
                <a:lnTo>
                  <a:pt x="0" y="48086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71162" y="768901"/>
            <a:ext cx="7621536" cy="6064410"/>
          </a:xfrm>
          <a:custGeom>
            <a:avLst/>
            <a:gdLst/>
            <a:ahLst/>
            <a:cxnLst/>
            <a:rect r="r" b="b" t="t" l="l"/>
            <a:pathLst>
              <a:path h="6064410" w="7621536">
                <a:moveTo>
                  <a:pt x="0" y="0"/>
                </a:moveTo>
                <a:lnTo>
                  <a:pt x="7621536" y="0"/>
                </a:lnTo>
                <a:lnTo>
                  <a:pt x="7621536" y="6064409"/>
                </a:lnTo>
                <a:lnTo>
                  <a:pt x="0" y="6064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3158" t="-37571" r="-4923" b="-307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08. EXPLAINABLE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0699" y="1599329"/>
            <a:ext cx="8793173" cy="1768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7"/>
              </a:lnSpc>
            </a:pPr>
            <a:r>
              <a:rPr lang="en-US" sz="61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Explainable AI  </a:t>
            </a:r>
          </a:p>
          <a:p>
            <a:pPr algn="ctr">
              <a:lnSpc>
                <a:spcPts val="6617"/>
              </a:lnSpc>
            </a:pPr>
            <a:r>
              <a:rPr lang="en-US" sz="61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SHAP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09290" y="7216665"/>
            <a:ext cx="4772360" cy="126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 Global Drivers: waiting_days, </a:t>
            </a:r>
          </a:p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previous_appointments, missed_previous_appointments, </a:t>
            </a:r>
          </a:p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blood_sugar_mg_dl. Longer waits </a:t>
            </a:r>
          </a:p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a history of missed visits push predictions </a:t>
            </a:r>
          </a:p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strongly toward no-show — supporting transparent, </a:t>
            </a:r>
          </a:p>
          <a:p>
            <a:pPr algn="l">
              <a:lnSpc>
                <a:spcPts val="1658"/>
              </a:lnSpc>
            </a:pPr>
            <a:r>
              <a:rPr lang="en-US" sz="12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ethically accountable clinical decisions.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487039"/>
            <a:ext cx="8706900" cy="58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SHAP explains why the model makes each prediction both globally and for individual patients.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88010"/>
            <a:ext cx="7362706" cy="29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69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EXPLAINABILITY </a:t>
            </a:r>
          </a:p>
        </p:txBody>
      </p:sp>
    </p:spTree>
  </p:cSld>
  <p:clrMapOvr>
    <a:masterClrMapping/>
  </p:clrMapOvr>
  <p:transition spd="slow">
    <p:cover dir="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2273292">
            <a:off x="10525698" y="-3088229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11699889"/>
                </a:moveTo>
                <a:lnTo>
                  <a:pt x="11504620" y="11699889"/>
                </a:lnTo>
                <a:lnTo>
                  <a:pt x="11504620" y="0"/>
                </a:lnTo>
                <a:lnTo>
                  <a:pt x="0" y="0"/>
                </a:lnTo>
                <a:lnTo>
                  <a:pt x="0" y="11699889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0620" y="-734141"/>
            <a:ext cx="11504620" cy="11699889"/>
          </a:xfrm>
          <a:custGeom>
            <a:avLst/>
            <a:gdLst/>
            <a:ahLst/>
            <a:cxnLst/>
            <a:rect r="r" b="b" t="t" l="l"/>
            <a:pathLst>
              <a:path h="11699889" w="11504620">
                <a:moveTo>
                  <a:pt x="0" y="0"/>
                </a:moveTo>
                <a:lnTo>
                  <a:pt x="11504620" y="0"/>
                </a:lnTo>
                <a:lnTo>
                  <a:pt x="11504620" y="11699889"/>
                </a:lnTo>
                <a:lnTo>
                  <a:pt x="0" y="1169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17079" y="0"/>
            <a:ext cx="6944718" cy="4925192"/>
            <a:chOff x="0" y="0"/>
            <a:chExt cx="1092428" cy="7747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2428" cy="774749"/>
            </a:xfrm>
            <a:custGeom>
              <a:avLst/>
              <a:gdLst/>
              <a:ahLst/>
              <a:cxnLst/>
              <a:rect r="r" b="b" t="t" l="l"/>
              <a:pathLst>
                <a:path h="774749" w="1092428">
                  <a:moveTo>
                    <a:pt x="50166" y="0"/>
                  </a:moveTo>
                  <a:lnTo>
                    <a:pt x="1042262" y="0"/>
                  </a:lnTo>
                  <a:cubicBezTo>
                    <a:pt x="1069968" y="0"/>
                    <a:pt x="1092428" y="22460"/>
                    <a:pt x="1092428" y="50166"/>
                  </a:cubicBezTo>
                  <a:lnTo>
                    <a:pt x="1092428" y="724584"/>
                  </a:lnTo>
                  <a:cubicBezTo>
                    <a:pt x="1092428" y="752289"/>
                    <a:pt x="1069968" y="774749"/>
                    <a:pt x="1042262" y="774749"/>
                  </a:cubicBezTo>
                  <a:lnTo>
                    <a:pt x="50166" y="774749"/>
                  </a:lnTo>
                  <a:cubicBezTo>
                    <a:pt x="22460" y="774749"/>
                    <a:pt x="0" y="752289"/>
                    <a:pt x="0" y="724584"/>
                  </a:cubicBezTo>
                  <a:lnTo>
                    <a:pt x="0" y="50166"/>
                  </a:lnTo>
                  <a:cubicBezTo>
                    <a:pt x="0" y="22460"/>
                    <a:pt x="22460" y="0"/>
                    <a:pt x="50166" y="0"/>
                  </a:cubicBezTo>
                  <a:close/>
                </a:path>
              </a:pathLst>
            </a:custGeom>
            <a:blipFill>
              <a:blip r:embed="rId4">
                <a:alphaModFix amt="81000"/>
              </a:blip>
              <a:stretch>
                <a:fillRect l="0" t="-20502" r="0" b="-2050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9150" y="5191892"/>
            <a:ext cx="3967177" cy="2589972"/>
            <a:chOff x="0" y="0"/>
            <a:chExt cx="1515744" cy="989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5744" cy="989554"/>
            </a:xfrm>
            <a:custGeom>
              <a:avLst/>
              <a:gdLst/>
              <a:ahLst/>
              <a:cxnLst/>
              <a:rect r="r" b="b" t="t" l="l"/>
              <a:pathLst>
                <a:path h="989554" w="1515744">
                  <a:moveTo>
                    <a:pt x="97575" y="0"/>
                  </a:moveTo>
                  <a:lnTo>
                    <a:pt x="1418170" y="0"/>
                  </a:lnTo>
                  <a:cubicBezTo>
                    <a:pt x="1472058" y="0"/>
                    <a:pt x="1515744" y="43686"/>
                    <a:pt x="1515744" y="97575"/>
                  </a:cubicBezTo>
                  <a:lnTo>
                    <a:pt x="1515744" y="891979"/>
                  </a:lnTo>
                  <a:cubicBezTo>
                    <a:pt x="1515744" y="917858"/>
                    <a:pt x="1505464" y="942676"/>
                    <a:pt x="1487165" y="960975"/>
                  </a:cubicBezTo>
                  <a:cubicBezTo>
                    <a:pt x="1468866" y="979274"/>
                    <a:pt x="1444048" y="989554"/>
                    <a:pt x="1418170" y="989554"/>
                  </a:cubicBezTo>
                  <a:lnTo>
                    <a:pt x="97575" y="989554"/>
                  </a:lnTo>
                  <a:cubicBezTo>
                    <a:pt x="43686" y="989554"/>
                    <a:pt x="0" y="945868"/>
                    <a:pt x="0" y="891979"/>
                  </a:cubicBezTo>
                  <a:lnTo>
                    <a:pt x="0" y="97575"/>
                  </a:lnTo>
                  <a:cubicBezTo>
                    <a:pt x="0" y="43686"/>
                    <a:pt x="43686" y="0"/>
                    <a:pt x="9757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9677" y="8181914"/>
            <a:ext cx="15768646" cy="1351814"/>
            <a:chOff x="0" y="0"/>
            <a:chExt cx="8333366" cy="714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33366" cy="714403"/>
            </a:xfrm>
            <a:custGeom>
              <a:avLst/>
              <a:gdLst/>
              <a:ahLst/>
              <a:cxnLst/>
              <a:rect r="r" b="b" t="t" l="l"/>
              <a:pathLst>
                <a:path h="714403" w="8333366">
                  <a:moveTo>
                    <a:pt x="24548" y="0"/>
                  </a:moveTo>
                  <a:lnTo>
                    <a:pt x="8308818" y="0"/>
                  </a:lnTo>
                  <a:cubicBezTo>
                    <a:pt x="8322375" y="0"/>
                    <a:pt x="8333366" y="10991"/>
                    <a:pt x="8333366" y="24548"/>
                  </a:cubicBezTo>
                  <a:lnTo>
                    <a:pt x="8333366" y="689854"/>
                  </a:lnTo>
                  <a:cubicBezTo>
                    <a:pt x="8333366" y="703412"/>
                    <a:pt x="8322375" y="714403"/>
                    <a:pt x="8308818" y="714403"/>
                  </a:cubicBezTo>
                  <a:lnTo>
                    <a:pt x="24548" y="714403"/>
                  </a:lnTo>
                  <a:cubicBezTo>
                    <a:pt x="10991" y="714403"/>
                    <a:pt x="0" y="703412"/>
                    <a:pt x="0" y="689854"/>
                  </a:cubicBezTo>
                  <a:lnTo>
                    <a:pt x="0" y="24548"/>
                  </a:lnTo>
                  <a:cubicBezTo>
                    <a:pt x="0" y="10991"/>
                    <a:pt x="10991" y="0"/>
                    <a:pt x="24548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38889" y="5191892"/>
            <a:ext cx="3967177" cy="2589972"/>
            <a:chOff x="0" y="0"/>
            <a:chExt cx="1515744" cy="989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15744" cy="989554"/>
            </a:xfrm>
            <a:custGeom>
              <a:avLst/>
              <a:gdLst/>
              <a:ahLst/>
              <a:cxnLst/>
              <a:rect r="r" b="b" t="t" l="l"/>
              <a:pathLst>
                <a:path h="989554" w="1515744">
                  <a:moveTo>
                    <a:pt x="97575" y="0"/>
                  </a:moveTo>
                  <a:lnTo>
                    <a:pt x="1418170" y="0"/>
                  </a:lnTo>
                  <a:cubicBezTo>
                    <a:pt x="1472058" y="0"/>
                    <a:pt x="1515744" y="43686"/>
                    <a:pt x="1515744" y="97575"/>
                  </a:cubicBezTo>
                  <a:lnTo>
                    <a:pt x="1515744" y="891979"/>
                  </a:lnTo>
                  <a:cubicBezTo>
                    <a:pt x="1515744" y="917858"/>
                    <a:pt x="1505464" y="942676"/>
                    <a:pt x="1487165" y="960975"/>
                  </a:cubicBezTo>
                  <a:cubicBezTo>
                    <a:pt x="1468866" y="979274"/>
                    <a:pt x="1444048" y="989554"/>
                    <a:pt x="1418170" y="989554"/>
                  </a:cubicBezTo>
                  <a:lnTo>
                    <a:pt x="97575" y="989554"/>
                  </a:lnTo>
                  <a:cubicBezTo>
                    <a:pt x="43686" y="989554"/>
                    <a:pt x="0" y="945868"/>
                    <a:pt x="0" y="891979"/>
                  </a:cubicBezTo>
                  <a:lnTo>
                    <a:pt x="0" y="97575"/>
                  </a:lnTo>
                  <a:cubicBezTo>
                    <a:pt x="0" y="43686"/>
                    <a:pt x="43686" y="0"/>
                    <a:pt x="9757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34942" y="5191892"/>
            <a:ext cx="3967177" cy="2589972"/>
            <a:chOff x="0" y="0"/>
            <a:chExt cx="1515744" cy="9895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5744" cy="989554"/>
            </a:xfrm>
            <a:custGeom>
              <a:avLst/>
              <a:gdLst/>
              <a:ahLst/>
              <a:cxnLst/>
              <a:rect r="r" b="b" t="t" l="l"/>
              <a:pathLst>
                <a:path h="989554" w="1515744">
                  <a:moveTo>
                    <a:pt x="97575" y="0"/>
                  </a:moveTo>
                  <a:lnTo>
                    <a:pt x="1418170" y="0"/>
                  </a:lnTo>
                  <a:cubicBezTo>
                    <a:pt x="1472058" y="0"/>
                    <a:pt x="1515744" y="43686"/>
                    <a:pt x="1515744" y="97575"/>
                  </a:cubicBezTo>
                  <a:lnTo>
                    <a:pt x="1515744" y="891979"/>
                  </a:lnTo>
                  <a:cubicBezTo>
                    <a:pt x="1515744" y="917858"/>
                    <a:pt x="1505464" y="942676"/>
                    <a:pt x="1487165" y="960975"/>
                  </a:cubicBezTo>
                  <a:cubicBezTo>
                    <a:pt x="1468866" y="979274"/>
                    <a:pt x="1444048" y="989554"/>
                    <a:pt x="1418170" y="989554"/>
                  </a:cubicBezTo>
                  <a:lnTo>
                    <a:pt x="97575" y="989554"/>
                  </a:lnTo>
                  <a:cubicBezTo>
                    <a:pt x="43686" y="989554"/>
                    <a:pt x="0" y="945868"/>
                    <a:pt x="0" y="891979"/>
                  </a:cubicBezTo>
                  <a:lnTo>
                    <a:pt x="0" y="97575"/>
                  </a:lnTo>
                  <a:cubicBezTo>
                    <a:pt x="0" y="43686"/>
                    <a:pt x="43686" y="0"/>
                    <a:pt x="9757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581673" y="5191892"/>
            <a:ext cx="3967177" cy="2589972"/>
            <a:chOff x="0" y="0"/>
            <a:chExt cx="1515744" cy="98955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5744" cy="989554"/>
            </a:xfrm>
            <a:custGeom>
              <a:avLst/>
              <a:gdLst/>
              <a:ahLst/>
              <a:cxnLst/>
              <a:rect r="r" b="b" t="t" l="l"/>
              <a:pathLst>
                <a:path h="989554" w="1515744">
                  <a:moveTo>
                    <a:pt x="97575" y="0"/>
                  </a:moveTo>
                  <a:lnTo>
                    <a:pt x="1418170" y="0"/>
                  </a:lnTo>
                  <a:cubicBezTo>
                    <a:pt x="1472058" y="0"/>
                    <a:pt x="1515744" y="43686"/>
                    <a:pt x="1515744" y="97575"/>
                  </a:cubicBezTo>
                  <a:lnTo>
                    <a:pt x="1515744" y="891979"/>
                  </a:lnTo>
                  <a:cubicBezTo>
                    <a:pt x="1515744" y="917858"/>
                    <a:pt x="1505464" y="942676"/>
                    <a:pt x="1487165" y="960975"/>
                  </a:cubicBezTo>
                  <a:cubicBezTo>
                    <a:pt x="1468866" y="979274"/>
                    <a:pt x="1444048" y="989554"/>
                    <a:pt x="1418170" y="989554"/>
                  </a:cubicBezTo>
                  <a:lnTo>
                    <a:pt x="97575" y="989554"/>
                  </a:lnTo>
                  <a:cubicBezTo>
                    <a:pt x="43686" y="989554"/>
                    <a:pt x="0" y="945868"/>
                    <a:pt x="0" y="891979"/>
                  </a:cubicBezTo>
                  <a:lnTo>
                    <a:pt x="0" y="97575"/>
                  </a:lnTo>
                  <a:cubicBezTo>
                    <a:pt x="0" y="43686"/>
                    <a:pt x="43686" y="0"/>
                    <a:pt x="97575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08.PROTOTYPE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844531"/>
            <a:ext cx="12216170" cy="190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2"/>
              </a:lnSpc>
            </a:pPr>
            <a:r>
              <a:rPr lang="en-US" sz="66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AI Prototype - Streamlit Clinical Decision Support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7455" y="6166974"/>
            <a:ext cx="3590567" cy="107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Clinician enters patient, appointment &amp; clinical details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0103" y="5473441"/>
            <a:ext cx="2354426" cy="464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6"/>
              </a:lnSpc>
            </a:pPr>
            <a:r>
              <a:rPr lang="en-US" sz="271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Accept Input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40209" y="8308655"/>
            <a:ext cx="2244269" cy="60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332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Built With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808481"/>
            <a:ext cx="10860423" cy="111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working Streamlit web application lets a clinician enter patient &amp;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appointment details and instantly receive a no-show risk prediction with </a:t>
            </a:r>
          </a:p>
          <a:p>
            <a:pPr algn="l">
              <a:lnSpc>
                <a:spcPts val="2967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explanation.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7194" y="6166974"/>
            <a:ext cx="3590567" cy="107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Inputs encoded &amp; scaled to match the training pipeline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43905" y="5476624"/>
            <a:ext cx="2357144" cy="46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71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4303" y="6166974"/>
            <a:ext cx="3590567" cy="107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Trained Logistic Regression model scores no-show risk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76383" y="5476624"/>
            <a:ext cx="3684295" cy="46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71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Prediction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9978" y="6166974"/>
            <a:ext cx="3590567" cy="107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Risk level + SHAP-based explanation shown to the user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9637" y="5473441"/>
            <a:ext cx="2791249" cy="46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71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Display 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0209" y="8937117"/>
            <a:ext cx="14552047" cy="3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Streamlit ·Plotly · Scikit-Learn· Joblib ·Pandas - deployed with a custom dark clinical-themed UI for real-time predictions.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8830" y="9449134"/>
            <a:ext cx="19065660" cy="1209939"/>
            <a:chOff x="0" y="0"/>
            <a:chExt cx="9200329" cy="5838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00329" cy="583869"/>
            </a:xfrm>
            <a:custGeom>
              <a:avLst/>
              <a:gdLst/>
              <a:ahLst/>
              <a:cxnLst/>
              <a:rect r="r" b="b" t="t" l="l"/>
              <a:pathLst>
                <a:path h="583869" w="9200329">
                  <a:moveTo>
                    <a:pt x="20303" y="0"/>
                  </a:moveTo>
                  <a:lnTo>
                    <a:pt x="9180026" y="0"/>
                  </a:lnTo>
                  <a:cubicBezTo>
                    <a:pt x="9185411" y="0"/>
                    <a:pt x="9190575" y="2139"/>
                    <a:pt x="9194382" y="5947"/>
                  </a:cubicBezTo>
                  <a:cubicBezTo>
                    <a:pt x="9198190" y="9754"/>
                    <a:pt x="9200329" y="14919"/>
                    <a:pt x="9200329" y="20303"/>
                  </a:cubicBezTo>
                  <a:lnTo>
                    <a:pt x="9200329" y="563565"/>
                  </a:lnTo>
                  <a:cubicBezTo>
                    <a:pt x="9200329" y="568950"/>
                    <a:pt x="9198190" y="574114"/>
                    <a:pt x="9194382" y="577922"/>
                  </a:cubicBezTo>
                  <a:cubicBezTo>
                    <a:pt x="9190575" y="581730"/>
                    <a:pt x="9185411" y="583869"/>
                    <a:pt x="9180026" y="583869"/>
                  </a:cubicBezTo>
                  <a:lnTo>
                    <a:pt x="20303" y="583869"/>
                  </a:lnTo>
                  <a:cubicBezTo>
                    <a:pt x="14919" y="583869"/>
                    <a:pt x="9754" y="581730"/>
                    <a:pt x="5947" y="577922"/>
                  </a:cubicBezTo>
                  <a:cubicBezTo>
                    <a:pt x="2139" y="574114"/>
                    <a:pt x="0" y="568950"/>
                    <a:pt x="0" y="563565"/>
                  </a:cubicBezTo>
                  <a:lnTo>
                    <a:pt x="0" y="20303"/>
                  </a:lnTo>
                  <a:cubicBezTo>
                    <a:pt x="0" y="14919"/>
                    <a:pt x="2139" y="9754"/>
                    <a:pt x="5947" y="5947"/>
                  </a:cubicBezTo>
                  <a:cubicBezTo>
                    <a:pt x="9754" y="2139"/>
                    <a:pt x="14919" y="0"/>
                    <a:pt x="20303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3811032">
            <a:off x="2247829" y="-2952514"/>
            <a:ext cx="13085992" cy="13123274"/>
          </a:xfrm>
          <a:custGeom>
            <a:avLst/>
            <a:gdLst/>
            <a:ahLst/>
            <a:cxnLst/>
            <a:rect r="r" b="b" t="t" l="l"/>
            <a:pathLst>
              <a:path h="13123274" w="13085992">
                <a:moveTo>
                  <a:pt x="0" y="0"/>
                </a:moveTo>
                <a:lnTo>
                  <a:pt x="13085992" y="0"/>
                </a:lnTo>
                <a:lnTo>
                  <a:pt x="13085992" y="13123274"/>
                </a:lnTo>
                <a:lnTo>
                  <a:pt x="0" y="1312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388830" y="3872576"/>
            <a:ext cx="19065660" cy="5686620"/>
            <a:chOff x="0" y="0"/>
            <a:chExt cx="9200329" cy="27441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0329" cy="2744137"/>
            </a:xfrm>
            <a:custGeom>
              <a:avLst/>
              <a:gdLst/>
              <a:ahLst/>
              <a:cxnLst/>
              <a:rect r="r" b="b" t="t" l="l"/>
              <a:pathLst>
                <a:path h="2744137" w="9200329">
                  <a:moveTo>
                    <a:pt x="20303" y="0"/>
                  </a:moveTo>
                  <a:lnTo>
                    <a:pt x="9180026" y="0"/>
                  </a:lnTo>
                  <a:cubicBezTo>
                    <a:pt x="9185411" y="0"/>
                    <a:pt x="9190575" y="2139"/>
                    <a:pt x="9194382" y="5947"/>
                  </a:cubicBezTo>
                  <a:cubicBezTo>
                    <a:pt x="9198190" y="9754"/>
                    <a:pt x="9200329" y="14919"/>
                    <a:pt x="9200329" y="20303"/>
                  </a:cubicBezTo>
                  <a:lnTo>
                    <a:pt x="9200329" y="2723833"/>
                  </a:lnTo>
                  <a:cubicBezTo>
                    <a:pt x="9200329" y="2729218"/>
                    <a:pt x="9198190" y="2734382"/>
                    <a:pt x="9194382" y="2738190"/>
                  </a:cubicBezTo>
                  <a:cubicBezTo>
                    <a:pt x="9190575" y="2741998"/>
                    <a:pt x="9185411" y="2744137"/>
                    <a:pt x="9180026" y="2744137"/>
                  </a:cubicBezTo>
                  <a:lnTo>
                    <a:pt x="20303" y="2744137"/>
                  </a:lnTo>
                  <a:cubicBezTo>
                    <a:pt x="14919" y="2744137"/>
                    <a:pt x="9754" y="2741998"/>
                    <a:pt x="5947" y="2738190"/>
                  </a:cubicBezTo>
                  <a:cubicBezTo>
                    <a:pt x="2139" y="2734382"/>
                    <a:pt x="0" y="2729218"/>
                    <a:pt x="0" y="2723833"/>
                  </a:cubicBezTo>
                  <a:lnTo>
                    <a:pt x="0" y="20303"/>
                  </a:lnTo>
                  <a:cubicBezTo>
                    <a:pt x="0" y="14919"/>
                    <a:pt x="2139" y="9754"/>
                    <a:pt x="5947" y="5947"/>
                  </a:cubicBezTo>
                  <a:cubicBezTo>
                    <a:pt x="9754" y="2139"/>
                    <a:pt x="14919" y="0"/>
                    <a:pt x="20303" y="0"/>
                  </a:cubicBezTo>
                  <a:close/>
                </a:path>
              </a:pathLst>
            </a:custGeom>
            <a:solidFill>
              <a:srgbClr val="008B8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048165"/>
            <a:ext cx="274054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562308"/>
            <a:ext cx="16230600" cy="91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10"/>
              </a:lnSpc>
            </a:pPr>
            <a:r>
              <a:rPr lang="en-US" sz="6084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Conclusion, Limitations &amp; Future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55364"/>
            <a:ext cx="7762125" cy="520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an end-to-end ML pipeline: preprocessing → EDA → modelling → evaluation → explainability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Trained &amp; compared 5 classification models with GridSearchCV tuning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Selected Logistic Regression as the best model (63% accuracy, 0.6709 ROC-AUC)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Delivered SHAP-based global &amp; local explanations for transparency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Deployed a working Streamlit prototype for real-time predictions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4752" y="3190023"/>
            <a:ext cx="448319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2499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ACHIEVED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3374" y="4055364"/>
            <a:ext cx="7445926" cy="557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Moderate accuracy (~63%) reflects a small, 1,000 record dataset a larger dataset should improve it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Explore deep learning models and further class imbalance handling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Apply model calibration and additional feature engineering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 via a hosted API with continuous monitoring</a:t>
            </a:r>
          </a:p>
          <a:p>
            <a:pPr algn="l">
              <a:lnSpc>
                <a:spcPts val="2967"/>
              </a:lnSpc>
            </a:pP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 external validation on real hospital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57090" y="3190023"/>
            <a:ext cx="535849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2499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 &amp; FUTURE WORK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85340">
            <a:off x="833085" y="-910938"/>
            <a:ext cx="13085992" cy="13123274"/>
          </a:xfrm>
          <a:custGeom>
            <a:avLst/>
            <a:gdLst/>
            <a:ahLst/>
            <a:cxnLst/>
            <a:rect r="r" b="b" t="t" l="l"/>
            <a:pathLst>
              <a:path h="13123274" w="13085992">
                <a:moveTo>
                  <a:pt x="0" y="0"/>
                </a:moveTo>
                <a:lnTo>
                  <a:pt x="13085992" y="0"/>
                </a:lnTo>
                <a:lnTo>
                  <a:pt x="13085992" y="13123274"/>
                </a:lnTo>
                <a:lnTo>
                  <a:pt x="0" y="1312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34314" y="649795"/>
            <a:ext cx="6914425" cy="8608505"/>
            <a:chOff x="0" y="0"/>
            <a:chExt cx="1071225" cy="1333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1225" cy="1333683"/>
            </a:xfrm>
            <a:custGeom>
              <a:avLst/>
              <a:gdLst/>
              <a:ahLst/>
              <a:cxnLst/>
              <a:rect r="r" b="b" t="t" l="l"/>
              <a:pathLst>
                <a:path h="1333683" w="1071225">
                  <a:moveTo>
                    <a:pt x="50385" y="0"/>
                  </a:moveTo>
                  <a:lnTo>
                    <a:pt x="1020840" y="0"/>
                  </a:lnTo>
                  <a:cubicBezTo>
                    <a:pt x="1048667" y="0"/>
                    <a:pt x="1071225" y="22558"/>
                    <a:pt x="1071225" y="50385"/>
                  </a:cubicBezTo>
                  <a:lnTo>
                    <a:pt x="1071225" y="1283297"/>
                  </a:lnTo>
                  <a:cubicBezTo>
                    <a:pt x="1071225" y="1311124"/>
                    <a:pt x="1048667" y="1333683"/>
                    <a:pt x="1020840" y="1333683"/>
                  </a:cubicBezTo>
                  <a:lnTo>
                    <a:pt x="50385" y="1333683"/>
                  </a:lnTo>
                  <a:cubicBezTo>
                    <a:pt x="22558" y="1333683"/>
                    <a:pt x="0" y="1311124"/>
                    <a:pt x="0" y="1283297"/>
                  </a:cubicBezTo>
                  <a:lnTo>
                    <a:pt x="0" y="50385"/>
                  </a:lnTo>
                  <a:cubicBezTo>
                    <a:pt x="0" y="22558"/>
                    <a:pt x="22558" y="0"/>
                    <a:pt x="50385" y="0"/>
                  </a:cubicBezTo>
                  <a:close/>
                </a:path>
              </a:pathLst>
            </a:custGeom>
            <a:blipFill>
              <a:blip r:embed="rId4">
                <a:alphaModFix amt="84000"/>
              </a:blip>
              <a:stretch>
                <a:fillRect l="-12250" t="0" r="-1225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680722" y="7316007"/>
            <a:ext cx="11601589" cy="2089687"/>
            <a:chOff x="0" y="0"/>
            <a:chExt cx="3055563" cy="550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55563" cy="550370"/>
            </a:xfrm>
            <a:custGeom>
              <a:avLst/>
              <a:gdLst/>
              <a:ahLst/>
              <a:cxnLst/>
              <a:rect r="r" b="b" t="t" l="l"/>
              <a:pathLst>
                <a:path h="550370" w="3055563">
                  <a:moveTo>
                    <a:pt x="30029" y="0"/>
                  </a:moveTo>
                  <a:lnTo>
                    <a:pt x="3025533" y="0"/>
                  </a:lnTo>
                  <a:cubicBezTo>
                    <a:pt x="3042118" y="0"/>
                    <a:pt x="3055563" y="13445"/>
                    <a:pt x="3055563" y="30029"/>
                  </a:cubicBezTo>
                  <a:lnTo>
                    <a:pt x="3055563" y="520341"/>
                  </a:lnTo>
                  <a:cubicBezTo>
                    <a:pt x="3055563" y="528305"/>
                    <a:pt x="3052399" y="535943"/>
                    <a:pt x="3046767" y="541575"/>
                  </a:cubicBezTo>
                  <a:cubicBezTo>
                    <a:pt x="3041136" y="547207"/>
                    <a:pt x="3033498" y="550370"/>
                    <a:pt x="3025533" y="550370"/>
                  </a:cubicBezTo>
                  <a:lnTo>
                    <a:pt x="30029" y="550370"/>
                  </a:lnTo>
                  <a:cubicBezTo>
                    <a:pt x="13445" y="550370"/>
                    <a:pt x="0" y="536926"/>
                    <a:pt x="0" y="520341"/>
                  </a:cubicBezTo>
                  <a:lnTo>
                    <a:pt x="0" y="30029"/>
                  </a:lnTo>
                  <a:cubicBezTo>
                    <a:pt x="0" y="13445"/>
                    <a:pt x="13445" y="0"/>
                    <a:pt x="30029" y="0"/>
                  </a:cubicBezTo>
                  <a:close/>
                </a:path>
              </a:pathLst>
            </a:custGeom>
            <a:solidFill>
              <a:srgbClr val="01345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055563" cy="617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25767" y="7630344"/>
            <a:ext cx="429894" cy="429894"/>
          </a:xfrm>
          <a:custGeom>
            <a:avLst/>
            <a:gdLst/>
            <a:ahLst/>
            <a:cxnLst/>
            <a:rect r="r" b="b" t="t" l="l"/>
            <a:pathLst>
              <a:path h="429894" w="429894">
                <a:moveTo>
                  <a:pt x="0" y="0"/>
                </a:moveTo>
                <a:lnTo>
                  <a:pt x="429895" y="0"/>
                </a:lnTo>
                <a:lnTo>
                  <a:pt x="429895" y="429894"/>
                </a:lnTo>
                <a:lnTo>
                  <a:pt x="0" y="4298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82347" y="7658254"/>
            <a:ext cx="401984" cy="401984"/>
          </a:xfrm>
          <a:custGeom>
            <a:avLst/>
            <a:gdLst/>
            <a:ahLst/>
            <a:cxnLst/>
            <a:rect r="r" b="b" t="t" l="l"/>
            <a:pathLst>
              <a:path h="401984" w="401984">
                <a:moveTo>
                  <a:pt x="0" y="0"/>
                </a:moveTo>
                <a:lnTo>
                  <a:pt x="401985" y="0"/>
                </a:lnTo>
                <a:lnTo>
                  <a:pt x="401985" y="401984"/>
                </a:lnTo>
                <a:lnTo>
                  <a:pt x="0" y="401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486170"/>
            <a:ext cx="10127655" cy="141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1"/>
              </a:lnSpc>
            </a:pPr>
            <a:r>
              <a:rPr lang="en-US" sz="8799" b="true">
                <a:solidFill>
                  <a:srgbClr val="008B8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for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19368"/>
            <a:ext cx="9108546" cy="93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9"/>
              </a:lnSpc>
            </a:pPr>
            <a:r>
              <a:rPr lang="en-US" sz="5831" b="true">
                <a:solidFill>
                  <a:srgbClr val="01345C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 &amp; Discussion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767" y="8172013"/>
            <a:ext cx="345623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Repository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5767" y="8509149"/>
            <a:ext cx="4047555" cy="23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09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github.com/dewmiabeykoon/smartcare-ai-project</a:t>
            </a:r>
          </a:p>
          <a:p>
            <a:pPr algn="l">
              <a:lnSpc>
                <a:spcPts val="10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082347" y="8172013"/>
            <a:ext cx="373373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Video Demonstration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DAHSSE84Lok</dc:identifier>
  <dcterms:modified xsi:type="dcterms:W3CDTF">2011-08-01T06:04:30Z</dcterms:modified>
  <cp:revision>1</cp:revision>
  <dc:title>Blue and Green Modern Professional Medical Healthcare Clinic Presentation</dc:title>
</cp:coreProperties>
</file>